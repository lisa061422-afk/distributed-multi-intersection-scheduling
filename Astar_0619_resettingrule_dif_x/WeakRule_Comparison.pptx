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8" y="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ke Wang" userId="89e21b96a9a5cd01" providerId="LiveId" clId="{925CB866-62FD-423C-9729-33FA606951A8}"/>
    <pc:docChg chg="modSld">
      <pc:chgData name="Renke Wang" userId="89e21b96a9a5cd01" providerId="LiveId" clId="{925CB866-62FD-423C-9729-33FA606951A8}" dt="2026-04-22T00:41:24.766" v="2" actId="1036"/>
      <pc:docMkLst>
        <pc:docMk/>
      </pc:docMkLst>
      <pc:sldChg chg="modSp mod">
        <pc:chgData name="Renke Wang" userId="89e21b96a9a5cd01" providerId="LiveId" clId="{925CB866-62FD-423C-9729-33FA606951A8}" dt="2026-04-22T00:41:24.766" v="2" actId="1036"/>
        <pc:sldMkLst>
          <pc:docMk/>
          <pc:sldMk cId="0" sldId="259"/>
        </pc:sldMkLst>
        <pc:spChg chg="mod">
          <ac:chgData name="Renke Wang" userId="89e21b96a9a5cd01" providerId="LiveId" clId="{925CB866-62FD-423C-9729-33FA606951A8}" dt="2026-04-22T00:41:24.766" v="2" actId="1036"/>
          <ac:spMkLst>
            <pc:docMk/>
            <pc:sldMk cId="0" sldId="259"/>
            <ac:spMk id="2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7315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WeakRule ON vs OFF: Optimality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56B82"/>
                </a:solidFill>
              </a:rPr>
              <a:t>Random Batch Experiment  |  Single-Intersection Decision Tree Scheduler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C3E50"/>
                </a:solidFill>
              </a:rPr>
              <a:t>20 random trials  ·  N_sys ∈ {3–6}  ·  routes ∈ {1–12}  ·  d1 ∈ U[0, 3 s]  ·  seed =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37A00"/>
                </a:solidFill>
              </a:rPr>
              <a:t>Goal: Verify that WeakRule ON never produces a suboptimal solution relative to WeakRule 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B82"/>
                </a:solidFill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Experiment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RunRandom.m  ·  MATLAB  ·  Decision Tree Scheduler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194560" cy="502920"/>
          </a:xfrm>
          <a:prstGeom prst="rect">
            <a:avLst/>
          </a:prstGeom>
          <a:solidFill>
            <a:srgbClr val="1A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261872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Centralized decision tree scheduler for single intersection with 4 arms (12 route types)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2194560" cy="502920"/>
          </a:xfrm>
          <a:prstGeom prst="rect">
            <a:avLst/>
          </a:prstGeom>
          <a:solidFill>
            <a:srgbClr val="1A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920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WeakRule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92024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New method: x co-decides with V_temp → allows optimal reset timing for sub-task transitions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05456"/>
            <a:ext cx="2194560" cy="502920"/>
          </a:xfrm>
          <a:prstGeom prst="rect">
            <a:avLst/>
          </a:prstGeom>
          <a:solidFill>
            <a:srgbClr val="1A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257860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WeakRule 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578608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Original method: x depends solely on V_temp → resource priority locked by occupancy state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63824"/>
            <a:ext cx="2194560" cy="502920"/>
          </a:xfrm>
          <a:prstGeom prst="rect">
            <a:avLst/>
          </a:prstGeom>
          <a:solidFill>
            <a:srgbClr val="1A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3236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236976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g-cost = total weighted delay across all N systems (lower = better)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22191"/>
            <a:ext cx="2194560" cy="502920"/>
          </a:xfrm>
          <a:prstGeom prst="rect">
            <a:avLst/>
          </a:prstGeom>
          <a:solidFill>
            <a:srgbClr val="1A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389534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Random config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895344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N_sys ~ Uniform{3,4,5,6},  routes ~ Uniform{1…12} (repetition allowed),  d1 ~ U[0,3] 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480559"/>
            <a:ext cx="2194560" cy="502920"/>
          </a:xfrm>
          <a:prstGeom prst="rect">
            <a:avLst/>
          </a:prstGeom>
          <a:solidFill>
            <a:srgbClr val="1A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45537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Switches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553712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pruneNodes=false, useBnB=false, useTBound=true, timeout=30 s per 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138928"/>
            <a:ext cx="2194560" cy="502920"/>
          </a:xfrm>
          <a:prstGeom prst="rect">
            <a:avLst/>
          </a:prstGeom>
          <a:solidFill>
            <a:srgbClr val="1A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1480" y="52120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Trials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21208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20 trials, RNG seed=42 for full reproducibility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797296"/>
            <a:ext cx="2194560" cy="502920"/>
          </a:xfrm>
          <a:prstGeom prst="rect">
            <a:avLst/>
          </a:prstGeom>
          <a:solidFill>
            <a:srgbClr val="1A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587044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Output cols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870448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Cost_ON, Cost_OFF, Match, Nodes_ON/OFF, Leaves_ON/OFF, Time_ON/OFF, Timeout flags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Results Table — Trials 1–10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20 random cases · WeakRule ON vs OFF · seed=42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" y="1143000"/>
            <a:ext cx="301751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79" y="1188720"/>
            <a:ext cx="26517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" y="1143000"/>
            <a:ext cx="21031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7373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1143000"/>
            <a:ext cx="1033271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996695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Routes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64792" y="1143000"/>
            <a:ext cx="1856231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83080" y="1188720"/>
            <a:ext cx="1819655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d1 (s)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39311" y="1143000"/>
            <a:ext cx="640080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599" y="1188720"/>
            <a:ext cx="603503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Cost 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1143000"/>
            <a:ext cx="640080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15967" y="1188720"/>
            <a:ext cx="603503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Cost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7" y="1143000"/>
            <a:ext cx="48463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74335" y="1188720"/>
            <a:ext cx="44805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Match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58967" y="1143000"/>
            <a:ext cx="640080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77255" y="1188720"/>
            <a:ext cx="603503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Nodes 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17335" y="1143000"/>
            <a:ext cx="66751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35623" y="1188720"/>
            <a:ext cx="63093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Nodes OFF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03135" y="1143000"/>
            <a:ext cx="48463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21423" y="1188720"/>
            <a:ext cx="44805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Lvs 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06055" y="1143000"/>
            <a:ext cx="48463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24343" y="1188720"/>
            <a:ext cx="44805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Lvs OFF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08975" y="1143000"/>
            <a:ext cx="57607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27263" y="1188720"/>
            <a:ext cx="5394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t_ON(s)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03336" y="1143000"/>
            <a:ext cx="640080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21624" y="1188720"/>
            <a:ext cx="603503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t_OFF(s)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61704" y="1143000"/>
            <a:ext cx="34747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79992" y="1188720"/>
            <a:ext cx="3108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Tout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4592" y="1572768"/>
            <a:ext cx="30175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73736" y="1627632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" y="1572768"/>
            <a:ext cx="2103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93776" y="1627632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" y="1572768"/>
            <a:ext cx="103327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22376" y="1627632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[12 9 8 2]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64792" y="1572768"/>
            <a:ext cx="185623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773936" y="1627632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0.47/0.17/2.60/1.80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39311" y="1572768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648455" y="162763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79" y="1572768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06823" y="162763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6047" y="1572768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965191" y="162763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58967" y="1572768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68111" y="162763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17335" y="1572768"/>
            <a:ext cx="6675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126479" y="1627632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03135" y="1572768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812279" y="162763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06055" y="1572768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315199" y="162763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08975" y="1572768"/>
            <a:ext cx="5760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818119" y="1627632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03336" y="1572768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412480" y="162763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61704" y="1572768"/>
            <a:ext cx="3474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070848" y="1627632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64592" y="2002536"/>
            <a:ext cx="30175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73736" y="2057400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" y="2002536"/>
            <a:ext cx="2103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93776" y="2057400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3232" y="2002536"/>
            <a:ext cx="103327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22376" y="2057400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 12 10 3 3]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764792" y="2002536"/>
            <a:ext cx="185623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773936" y="2057400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0.55/0.91/1.57/1.30/0.87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39311" y="2002536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648455" y="205740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1.4110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97679" y="2002536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306823" y="205740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1.4110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56047" y="2002536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965191" y="205740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58967" y="2002536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468111" y="205740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261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17335" y="2002536"/>
            <a:ext cx="6675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126479" y="2057400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3660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03135" y="2002536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12279" y="205740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306055" y="2002536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7315199" y="205740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833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808975" y="2002536"/>
            <a:ext cx="5760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818119" y="2057400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0.48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403336" y="2002536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412480" y="205740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13.71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061704" y="2002536"/>
            <a:ext cx="3474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9070848" y="2057400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164592" y="2432304"/>
            <a:ext cx="30175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173736" y="2487168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84632" y="2432304"/>
            <a:ext cx="2103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93776" y="2487168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13232" y="2432304"/>
            <a:ext cx="103327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722376" y="2487168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[2 4 5 6 10]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764792" y="2432304"/>
            <a:ext cx="185623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1773936" y="2487168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0.60/1.54/1.78/0.14/1.82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39311" y="2432304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3648455" y="2487168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3.4669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297679" y="2432304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306823" y="2487168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3.4669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956047" y="2432304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4965191" y="2487168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458967" y="2432304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5468111" y="2487168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859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17335" y="2432304"/>
            <a:ext cx="6675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6126479" y="2487168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5232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803135" y="2432304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812279" y="2487168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122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06055" y="2432304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7315199" y="2487168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808975" y="2432304"/>
            <a:ext cx="5760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818119" y="2487168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1.24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403336" y="2432304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8412480" y="2487168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30.01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061704" y="2432304"/>
            <a:ext cx="3474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070848" y="2487168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</a:rPr>
              <a:t>OFF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64592" y="2862072"/>
            <a:ext cx="30175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73736" y="2916936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84632" y="2862072"/>
            <a:ext cx="2103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493776" y="2916936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13232" y="2862072"/>
            <a:ext cx="103327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722376" y="2916936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 12 12]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64792" y="2862072"/>
            <a:ext cx="185623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1773936" y="2916936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2.43/0.91/0.29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39311" y="2862072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3648455" y="2916936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0.1646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297679" y="2862072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4306823" y="2916936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0.1646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56047" y="2862072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4965191" y="2916936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458967" y="2862072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5468111" y="2916936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117335" y="2862072"/>
            <a:ext cx="6675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126479" y="2916936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15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803135" y="2862072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812279" y="2916936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06055" y="2862072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7315199" y="2916936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808975" y="2862072"/>
            <a:ext cx="5760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7818119" y="2916936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403336" y="2862072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412480" y="2916936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061704" y="2862072"/>
            <a:ext cx="3474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9070848" y="2916936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164592" y="3291839"/>
            <a:ext cx="30175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173736" y="3346703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84632" y="3291839"/>
            <a:ext cx="2103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493776" y="3346703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13232" y="3291839"/>
            <a:ext cx="103327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22376" y="3346703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[6 2 6 1 11]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764792" y="3291839"/>
            <a:ext cx="185623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1773936" y="3346703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0.78/1.99/0.94/1.56/1.64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3639311" y="3291839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648455" y="334670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1.6901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297679" y="3291839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4306823" y="334670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1.6901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956047" y="3291839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4965191" y="334670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58967" y="3291839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5468111" y="334670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91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117335" y="3291839"/>
            <a:ext cx="6675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6126479" y="3346703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5031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803135" y="3291839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6812279" y="334670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14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306055" y="3291839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7315199" y="334670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17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808975" y="3291839"/>
            <a:ext cx="5760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7818119" y="3346703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8403336" y="3291839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8412480" y="334670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30.00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9061704" y="3291839"/>
            <a:ext cx="3474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9070848" y="3346703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</a:rPr>
              <a:t>OFF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64592" y="3721608"/>
            <a:ext cx="30175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173736" y="3776472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484632" y="3721608"/>
            <a:ext cx="2103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493776" y="3776472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13232" y="3721608"/>
            <a:ext cx="103327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722376" y="3776472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[12 10 12]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764792" y="3721608"/>
            <a:ext cx="185623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1773936" y="3776472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2.68/1.79/2.77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639311" y="3721608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3648455" y="377647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0.7043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297679" y="3721608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06823" y="377647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0.7043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956047" y="3721608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4965191" y="377647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458967" y="3721608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5468111" y="377647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13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117335" y="3721608"/>
            <a:ext cx="6675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126479" y="3776472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17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6803135" y="3721608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6812279" y="377647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7306055" y="3721608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7315199" y="377647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808975" y="3721608"/>
            <a:ext cx="5760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7818119" y="3776472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8403336" y="3721608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8412480" y="377647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061704" y="3721608"/>
            <a:ext cx="3474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9070848" y="3776472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164592" y="4151376"/>
            <a:ext cx="30175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173736" y="4206240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84632" y="4151376"/>
            <a:ext cx="2103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493776" y="4206240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13232" y="4151376"/>
            <a:ext cx="103327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22376" y="4206240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[3 1 4]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1764792" y="4151376"/>
            <a:ext cx="185623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1773936" y="4206240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1.17/0.81/2.49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3639311" y="4151376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3648455" y="420624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0.4334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4297679" y="4151376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4306823" y="420624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0.4334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4956047" y="4151376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4965191" y="420624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5458967" y="4151376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TextBox 216"/>
          <p:cNvSpPr txBox="1"/>
          <p:nvPr/>
        </p:nvSpPr>
        <p:spPr>
          <a:xfrm>
            <a:off x="5468111" y="420624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6117335" y="4151376"/>
            <a:ext cx="6675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/>
          <p:cNvSpPr txBox="1"/>
          <p:nvPr/>
        </p:nvSpPr>
        <p:spPr>
          <a:xfrm>
            <a:off x="6126479" y="4206240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6803135" y="4151376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/>
          <p:cNvSpPr txBox="1"/>
          <p:nvPr/>
        </p:nvSpPr>
        <p:spPr>
          <a:xfrm>
            <a:off x="6812279" y="420624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06055" y="4151376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TextBox 222"/>
          <p:cNvSpPr txBox="1"/>
          <p:nvPr/>
        </p:nvSpPr>
        <p:spPr>
          <a:xfrm>
            <a:off x="7315199" y="420624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7808975" y="4151376"/>
            <a:ext cx="5760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7818119" y="4206240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0.02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8403336" y="4151376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TextBox 226"/>
          <p:cNvSpPr txBox="1"/>
          <p:nvPr/>
        </p:nvSpPr>
        <p:spPr>
          <a:xfrm>
            <a:off x="8412480" y="420624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9061704" y="4151376"/>
            <a:ext cx="3474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TextBox 228"/>
          <p:cNvSpPr txBox="1"/>
          <p:nvPr/>
        </p:nvSpPr>
        <p:spPr>
          <a:xfrm>
            <a:off x="9070848" y="4206240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230" name="Rectangle 229"/>
          <p:cNvSpPr/>
          <p:nvPr/>
        </p:nvSpPr>
        <p:spPr>
          <a:xfrm>
            <a:off x="164592" y="4581144"/>
            <a:ext cx="30175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TextBox 230"/>
          <p:cNvSpPr txBox="1"/>
          <p:nvPr/>
        </p:nvSpPr>
        <p:spPr>
          <a:xfrm>
            <a:off x="173736" y="4636007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484632" y="4581144"/>
            <a:ext cx="2103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TextBox 232"/>
          <p:cNvSpPr txBox="1"/>
          <p:nvPr/>
        </p:nvSpPr>
        <p:spPr>
          <a:xfrm>
            <a:off x="493776" y="4636007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713232" y="4581144"/>
            <a:ext cx="103327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TextBox 234"/>
          <p:cNvSpPr txBox="1"/>
          <p:nvPr/>
        </p:nvSpPr>
        <p:spPr>
          <a:xfrm>
            <a:off x="722376" y="4636007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[4 7 2 10]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764792" y="4581144"/>
            <a:ext cx="185623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TextBox 236"/>
          <p:cNvSpPr txBox="1"/>
          <p:nvPr/>
        </p:nvSpPr>
        <p:spPr>
          <a:xfrm>
            <a:off x="1773936" y="4636007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0.22/2.96/2.32/0.60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3639311" y="4581144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3648455" y="4636007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0.4614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4297679" y="4581144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4306823" y="4636007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0.4614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4956047" y="4581144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TextBox 242"/>
          <p:cNvSpPr txBox="1"/>
          <p:nvPr/>
        </p:nvSpPr>
        <p:spPr>
          <a:xfrm>
            <a:off x="4965191" y="4636007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5458967" y="4581144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4"/>
          <p:cNvSpPr txBox="1"/>
          <p:nvPr/>
        </p:nvSpPr>
        <p:spPr>
          <a:xfrm>
            <a:off x="5468111" y="4636007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35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117335" y="4581144"/>
            <a:ext cx="6675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126479" y="4636007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44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803135" y="4581144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TextBox 248"/>
          <p:cNvSpPr txBox="1"/>
          <p:nvPr/>
        </p:nvSpPr>
        <p:spPr>
          <a:xfrm>
            <a:off x="6812279" y="4636007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306055" y="4581144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0"/>
          <p:cNvSpPr txBox="1"/>
          <p:nvPr/>
        </p:nvSpPr>
        <p:spPr>
          <a:xfrm>
            <a:off x="7315199" y="4636007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7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808975" y="4581144"/>
            <a:ext cx="5760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TextBox 252"/>
          <p:cNvSpPr txBox="1"/>
          <p:nvPr/>
        </p:nvSpPr>
        <p:spPr>
          <a:xfrm>
            <a:off x="7818119" y="4636007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8403336" y="4581144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TextBox 254"/>
          <p:cNvSpPr txBox="1"/>
          <p:nvPr/>
        </p:nvSpPr>
        <p:spPr>
          <a:xfrm>
            <a:off x="8412480" y="4636007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0.04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9061704" y="4581144"/>
            <a:ext cx="3474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TextBox 256"/>
          <p:cNvSpPr txBox="1"/>
          <p:nvPr/>
        </p:nvSpPr>
        <p:spPr>
          <a:xfrm>
            <a:off x="9070848" y="4636007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258" name="Rectangle 257"/>
          <p:cNvSpPr/>
          <p:nvPr/>
        </p:nvSpPr>
        <p:spPr>
          <a:xfrm>
            <a:off x="164592" y="5010912"/>
            <a:ext cx="30175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TextBox 258"/>
          <p:cNvSpPr txBox="1"/>
          <p:nvPr/>
        </p:nvSpPr>
        <p:spPr>
          <a:xfrm>
            <a:off x="173736" y="5065775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9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484632" y="5010912"/>
            <a:ext cx="2103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TextBox 260"/>
          <p:cNvSpPr txBox="1"/>
          <p:nvPr/>
        </p:nvSpPr>
        <p:spPr>
          <a:xfrm>
            <a:off x="493776" y="5065775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13232" y="5010912"/>
            <a:ext cx="103327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TextBox 262"/>
          <p:cNvSpPr txBox="1"/>
          <p:nvPr/>
        </p:nvSpPr>
        <p:spPr>
          <a:xfrm>
            <a:off x="722376" y="5065775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[10 9 9]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764792" y="5010912"/>
            <a:ext cx="185623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64"/>
          <p:cNvSpPr txBox="1"/>
          <p:nvPr/>
        </p:nvSpPr>
        <p:spPr>
          <a:xfrm>
            <a:off x="1773936" y="5065775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2.31/0.22/1.08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639311" y="5010912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TextBox 266"/>
          <p:cNvSpPr txBox="1"/>
          <p:nvPr/>
        </p:nvSpPr>
        <p:spPr>
          <a:xfrm>
            <a:off x="3648455" y="5065775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0.0000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297679" y="5010912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TextBox 268"/>
          <p:cNvSpPr txBox="1"/>
          <p:nvPr/>
        </p:nvSpPr>
        <p:spPr>
          <a:xfrm>
            <a:off x="4306823" y="5065775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0.0000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4956047" y="5010912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TextBox 270"/>
          <p:cNvSpPr txBox="1"/>
          <p:nvPr/>
        </p:nvSpPr>
        <p:spPr>
          <a:xfrm>
            <a:off x="4965191" y="5065775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5458967" y="5010912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TextBox 272"/>
          <p:cNvSpPr txBox="1"/>
          <p:nvPr/>
        </p:nvSpPr>
        <p:spPr>
          <a:xfrm>
            <a:off x="5468111" y="5065775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9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6117335" y="5010912"/>
            <a:ext cx="6675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6126479" y="5065775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9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803135" y="5010912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TextBox 276"/>
          <p:cNvSpPr txBox="1"/>
          <p:nvPr/>
        </p:nvSpPr>
        <p:spPr>
          <a:xfrm>
            <a:off x="6812279" y="5065775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7306055" y="5010912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TextBox 278"/>
          <p:cNvSpPr txBox="1"/>
          <p:nvPr/>
        </p:nvSpPr>
        <p:spPr>
          <a:xfrm>
            <a:off x="7315199" y="5065775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808975" y="5010912"/>
            <a:ext cx="5760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TextBox 280"/>
          <p:cNvSpPr txBox="1"/>
          <p:nvPr/>
        </p:nvSpPr>
        <p:spPr>
          <a:xfrm>
            <a:off x="7818119" y="5065775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8403336" y="5010912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TextBox 282"/>
          <p:cNvSpPr txBox="1"/>
          <p:nvPr/>
        </p:nvSpPr>
        <p:spPr>
          <a:xfrm>
            <a:off x="8412480" y="5065775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9061704" y="5010912"/>
            <a:ext cx="3474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284"/>
          <p:cNvSpPr txBox="1"/>
          <p:nvPr/>
        </p:nvSpPr>
        <p:spPr>
          <a:xfrm>
            <a:off x="9070848" y="5065775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286" name="Rectangle 285"/>
          <p:cNvSpPr/>
          <p:nvPr/>
        </p:nvSpPr>
        <p:spPr>
          <a:xfrm>
            <a:off x="164592" y="5440679"/>
            <a:ext cx="30175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TextBox 286"/>
          <p:cNvSpPr txBox="1"/>
          <p:nvPr/>
        </p:nvSpPr>
        <p:spPr>
          <a:xfrm>
            <a:off x="173736" y="5495543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484632" y="5440679"/>
            <a:ext cx="2103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TextBox 288"/>
          <p:cNvSpPr txBox="1"/>
          <p:nvPr/>
        </p:nvSpPr>
        <p:spPr>
          <a:xfrm>
            <a:off x="493776" y="5495543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13232" y="5440679"/>
            <a:ext cx="103327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TextBox 290"/>
          <p:cNvSpPr txBox="1"/>
          <p:nvPr/>
        </p:nvSpPr>
        <p:spPr>
          <a:xfrm>
            <a:off x="722376" y="5495543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[11 8 4]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764792" y="5440679"/>
            <a:ext cx="185623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TextBox 292"/>
          <p:cNvSpPr txBox="1"/>
          <p:nvPr/>
        </p:nvSpPr>
        <p:spPr>
          <a:xfrm>
            <a:off x="1773936" y="5495543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0.19/0.93/0.98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3639311" y="5440679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294"/>
          <p:cNvSpPr txBox="1"/>
          <p:nvPr/>
        </p:nvSpPr>
        <p:spPr>
          <a:xfrm>
            <a:off x="3648455" y="549554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0.3866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4297679" y="5440679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TextBox 296"/>
          <p:cNvSpPr txBox="1"/>
          <p:nvPr/>
        </p:nvSpPr>
        <p:spPr>
          <a:xfrm>
            <a:off x="4306823" y="549554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0.3866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4956047" y="5440679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TextBox 298"/>
          <p:cNvSpPr txBox="1"/>
          <p:nvPr/>
        </p:nvSpPr>
        <p:spPr>
          <a:xfrm>
            <a:off x="4965191" y="549554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5458967" y="5440679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TextBox 300"/>
          <p:cNvSpPr txBox="1"/>
          <p:nvPr/>
        </p:nvSpPr>
        <p:spPr>
          <a:xfrm>
            <a:off x="5468111" y="549554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13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6117335" y="5440679"/>
            <a:ext cx="6675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TextBox 302"/>
          <p:cNvSpPr txBox="1"/>
          <p:nvPr/>
        </p:nvSpPr>
        <p:spPr>
          <a:xfrm>
            <a:off x="6126479" y="5495543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13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6803135" y="5440679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304"/>
          <p:cNvSpPr txBox="1"/>
          <p:nvPr/>
        </p:nvSpPr>
        <p:spPr>
          <a:xfrm>
            <a:off x="6812279" y="549554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7306055" y="5440679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TextBox 306"/>
          <p:cNvSpPr txBox="1"/>
          <p:nvPr/>
        </p:nvSpPr>
        <p:spPr>
          <a:xfrm>
            <a:off x="7315199" y="549554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808975" y="5440679"/>
            <a:ext cx="5760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TextBox 308"/>
          <p:cNvSpPr txBox="1"/>
          <p:nvPr/>
        </p:nvSpPr>
        <p:spPr>
          <a:xfrm>
            <a:off x="7818119" y="5495543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403336" y="5440679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TextBox 310"/>
          <p:cNvSpPr txBox="1"/>
          <p:nvPr/>
        </p:nvSpPr>
        <p:spPr>
          <a:xfrm>
            <a:off x="8412480" y="549554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9061704" y="5440679"/>
            <a:ext cx="3474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TextBox 312"/>
          <p:cNvSpPr txBox="1"/>
          <p:nvPr/>
        </p:nvSpPr>
        <p:spPr>
          <a:xfrm>
            <a:off x="9070848" y="5495543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582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Results Table — Trials 11–20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20 random cases · WeakRule ON vs OFF · seed=42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" y="1143000"/>
            <a:ext cx="301751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79" y="1188720"/>
            <a:ext cx="26517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" y="1143000"/>
            <a:ext cx="21031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7373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1143000"/>
            <a:ext cx="1033271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996695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Routes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64792" y="1143000"/>
            <a:ext cx="1856231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83080" y="1188720"/>
            <a:ext cx="1819655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d1 (s)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39311" y="1143000"/>
            <a:ext cx="640080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599" y="1188720"/>
            <a:ext cx="603503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Cost 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1143000"/>
            <a:ext cx="640080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15967" y="1188720"/>
            <a:ext cx="603503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Cost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7" y="1143000"/>
            <a:ext cx="48463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74335" y="1188720"/>
            <a:ext cx="44805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Match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58967" y="1143000"/>
            <a:ext cx="640080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77255" y="1188720"/>
            <a:ext cx="603503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Nodes 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17335" y="1143000"/>
            <a:ext cx="66751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35623" y="1188720"/>
            <a:ext cx="63093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Nodes OFF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03135" y="1143000"/>
            <a:ext cx="48463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21423" y="1188720"/>
            <a:ext cx="44805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Lvs 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06055" y="1143000"/>
            <a:ext cx="48463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24343" y="1188720"/>
            <a:ext cx="44805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Lvs OFF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08975" y="1143000"/>
            <a:ext cx="57607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27263" y="1188720"/>
            <a:ext cx="5394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t_ON(s)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03336" y="1143000"/>
            <a:ext cx="640080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21624" y="1188720"/>
            <a:ext cx="603503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t_OFF(s)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61704" y="1143000"/>
            <a:ext cx="347472" cy="393192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79992" y="1188720"/>
            <a:ext cx="3108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Tout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4592" y="1572768"/>
            <a:ext cx="30175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73736" y="1627632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" y="1572768"/>
            <a:ext cx="2103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93776" y="1627632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" y="1572768"/>
            <a:ext cx="103327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22376" y="1627632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[8 11 6 2 9]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64792" y="1572768"/>
            <a:ext cx="185623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773936" y="1627632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2.28/1.68/2.31/1.48/1.57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39311" y="1572768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648455" y="162763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1.2397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79" y="1572768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06823" y="162763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1.2397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6047" y="1572768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965191" y="162763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58967" y="1572768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68111" y="162763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17335" y="1572768"/>
            <a:ext cx="6675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126479" y="1627632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1183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03135" y="1572768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812279" y="162763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06055" y="1572768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315199" y="162763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258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08975" y="1572768"/>
            <a:ext cx="5760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818119" y="1627632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03336" y="1572768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412480" y="162763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4.82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61704" y="1572768"/>
            <a:ext cx="3474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070848" y="1627632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64592" y="2002536"/>
            <a:ext cx="30175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73736" y="2057400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" y="2002536"/>
            <a:ext cx="2103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93776" y="2057400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3232" y="2002536"/>
            <a:ext cx="103327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22376" y="2057400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 2 1 8]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764792" y="2002536"/>
            <a:ext cx="185623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773936" y="2057400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0.94/1.53/2.72/0.75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39311" y="2002536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648455" y="205740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0.2085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97679" y="2002536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306823" y="205740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0.2085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56047" y="2002536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965191" y="205740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58967" y="2002536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468111" y="205740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17335" y="2002536"/>
            <a:ext cx="6675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126479" y="2057400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135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03135" y="2002536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12279" y="205740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306055" y="2002536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7315199" y="205740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808975" y="2002536"/>
            <a:ext cx="5760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818119" y="2057400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403336" y="2002536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412480" y="205740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0.12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061704" y="2002536"/>
            <a:ext cx="3474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9070848" y="2057400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164592" y="2432304"/>
            <a:ext cx="301751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173736" y="2487168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84632" y="2432304"/>
            <a:ext cx="210312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93776" y="2487168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13232" y="2432304"/>
            <a:ext cx="1033271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722376" y="2487168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[10 3 1 4]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764792" y="2432304"/>
            <a:ext cx="1856231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1773936" y="2487168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0.48/2.79/2.42/1.90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39311" y="2432304"/>
            <a:ext cx="640080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3648455" y="2487168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1.5743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297679" y="2432304"/>
            <a:ext cx="640080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306823" y="2487168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1.7302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956047" y="2432304"/>
            <a:ext cx="484632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4965191" y="2487168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</a:rPr>
              <a:t>NO★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458967" y="2432304"/>
            <a:ext cx="640080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5468111" y="2487168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17335" y="2432304"/>
            <a:ext cx="667512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6126479" y="2487168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248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803135" y="2432304"/>
            <a:ext cx="484632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812279" y="2487168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06055" y="2432304"/>
            <a:ext cx="484632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7315199" y="2487168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50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808975" y="2432304"/>
            <a:ext cx="576072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818119" y="2487168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403336" y="2432304"/>
            <a:ext cx="640080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8412480" y="2487168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0.44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061704" y="2432304"/>
            <a:ext cx="347472" cy="393192"/>
          </a:xfrm>
          <a:prstGeom prst="rect">
            <a:avLst/>
          </a:prstGeom>
          <a:solidFill>
            <a:srgbClr val="FC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070848" y="2487168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164592" y="2862072"/>
            <a:ext cx="301751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73736" y="2916936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84632" y="2862072"/>
            <a:ext cx="21031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493776" y="2916936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13232" y="2862072"/>
            <a:ext cx="1033271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722376" y="2916936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[10 3 11 7 10 11]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64792" y="2862072"/>
            <a:ext cx="1856231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1773936" y="2916936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0.95/0.33/0.68/1.28/2.45/2.58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39311" y="2862072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3648455" y="2916936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2.5661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297679" y="2862072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4306823" y="2916936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N/A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56047" y="2862072"/>
            <a:ext cx="48463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4965191" y="2916936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D37A00"/>
                </a:solidFill>
              </a:rPr>
              <a:t>N/A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458967" y="2862072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5468111" y="2916936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1177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117335" y="2862072"/>
            <a:ext cx="66751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126479" y="2916936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3061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803135" y="2862072"/>
            <a:ext cx="48463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812279" y="2916936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162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06055" y="2862072"/>
            <a:ext cx="48463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7315199" y="2916936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808975" y="2862072"/>
            <a:ext cx="57607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7818119" y="2916936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7.10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403336" y="2862072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412480" y="2916936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30.02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061704" y="2862072"/>
            <a:ext cx="34747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9070848" y="2916936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</a:rPr>
              <a:t>OFF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64592" y="3291839"/>
            <a:ext cx="30175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173736" y="3346703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84632" y="3291839"/>
            <a:ext cx="2103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493776" y="3346703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13232" y="3291839"/>
            <a:ext cx="103327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22376" y="3346703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[7 6 3]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764792" y="3291839"/>
            <a:ext cx="1856231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1773936" y="3346703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0.36/1.01/2.83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3639311" y="3291839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648455" y="334670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0.0000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297679" y="3291839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4306823" y="334670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0.0000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956047" y="3291839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4965191" y="334670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58967" y="3291839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5468111" y="334670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9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117335" y="3291839"/>
            <a:ext cx="66751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6126479" y="3346703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9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803135" y="3291839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6812279" y="334670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306055" y="3291839"/>
            <a:ext cx="48463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7315199" y="334670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808975" y="3291839"/>
            <a:ext cx="5760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7818119" y="3346703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8403336" y="3291839"/>
            <a:ext cx="640080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8412480" y="334670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9061704" y="3291839"/>
            <a:ext cx="347472" cy="3931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9070848" y="3346703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164592" y="3721608"/>
            <a:ext cx="30175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173736" y="3776472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16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484632" y="3721608"/>
            <a:ext cx="2103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493776" y="3776472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13232" y="3721608"/>
            <a:ext cx="103327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722376" y="3776472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[7 9 5 12]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764792" y="3721608"/>
            <a:ext cx="185623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1773936" y="3776472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2.89/0.76/1.49/0.90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639311" y="3721608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3648455" y="377647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0.6044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297679" y="3721608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06823" y="377647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0.6044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956047" y="3721608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4965191" y="377647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458967" y="3721608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5468111" y="377647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16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117335" y="3721608"/>
            <a:ext cx="6675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126479" y="3776472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16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6803135" y="3721608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6812279" y="377647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7306055" y="3721608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7315199" y="3776472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808975" y="3721608"/>
            <a:ext cx="5760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7818119" y="3776472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8403336" y="3721608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8412480" y="3776472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061704" y="3721608"/>
            <a:ext cx="3474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9070848" y="3776472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164592" y="4151376"/>
            <a:ext cx="301751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173736" y="4206240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84632" y="4151376"/>
            <a:ext cx="21031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493776" y="4206240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13232" y="4151376"/>
            <a:ext cx="1033271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22376" y="4206240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 8 7 1]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1764792" y="4151376"/>
            <a:ext cx="1856231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1773936" y="4206240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0.84/2.72/0.72/0.43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3639311" y="4151376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3648455" y="420624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1.9516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4297679" y="4151376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4306823" y="420624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N/A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4956047" y="4151376"/>
            <a:ext cx="48463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4965191" y="420624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D37A00"/>
                </a:solidFill>
              </a:rPr>
              <a:t>N/A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5458967" y="4151376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TextBox 216"/>
          <p:cNvSpPr txBox="1"/>
          <p:nvPr/>
        </p:nvSpPr>
        <p:spPr>
          <a:xfrm>
            <a:off x="5468111" y="420624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429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6117335" y="4151376"/>
            <a:ext cx="66751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/>
          <p:cNvSpPr txBox="1"/>
          <p:nvPr/>
        </p:nvSpPr>
        <p:spPr>
          <a:xfrm>
            <a:off x="6126479" y="4206240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2710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6803135" y="4151376"/>
            <a:ext cx="48463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/>
          <p:cNvSpPr txBox="1"/>
          <p:nvPr/>
        </p:nvSpPr>
        <p:spPr>
          <a:xfrm>
            <a:off x="6812279" y="420624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41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06055" y="4151376"/>
            <a:ext cx="48463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TextBox 222"/>
          <p:cNvSpPr txBox="1"/>
          <p:nvPr/>
        </p:nvSpPr>
        <p:spPr>
          <a:xfrm>
            <a:off x="7315199" y="4206240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7808975" y="4151376"/>
            <a:ext cx="57607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7818119" y="4206240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1.17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8403336" y="4151376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TextBox 226"/>
          <p:cNvSpPr txBox="1"/>
          <p:nvPr/>
        </p:nvSpPr>
        <p:spPr>
          <a:xfrm>
            <a:off x="8412480" y="420624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30.05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9061704" y="4151376"/>
            <a:ext cx="34747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TextBox 228"/>
          <p:cNvSpPr txBox="1"/>
          <p:nvPr/>
        </p:nvSpPr>
        <p:spPr>
          <a:xfrm>
            <a:off x="9070848" y="4206240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</a:rPr>
              <a:t>OFF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164592" y="4581144"/>
            <a:ext cx="30175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TextBox 230"/>
          <p:cNvSpPr txBox="1"/>
          <p:nvPr/>
        </p:nvSpPr>
        <p:spPr>
          <a:xfrm>
            <a:off x="173736" y="4636007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18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484632" y="4581144"/>
            <a:ext cx="2103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TextBox 232"/>
          <p:cNvSpPr txBox="1"/>
          <p:nvPr/>
        </p:nvSpPr>
        <p:spPr>
          <a:xfrm>
            <a:off x="493776" y="4636007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713232" y="4581144"/>
            <a:ext cx="103327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TextBox 234"/>
          <p:cNvSpPr txBox="1"/>
          <p:nvPr/>
        </p:nvSpPr>
        <p:spPr>
          <a:xfrm>
            <a:off x="722376" y="4636007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[12 3 9 10]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764792" y="4581144"/>
            <a:ext cx="185623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TextBox 236"/>
          <p:cNvSpPr txBox="1"/>
          <p:nvPr/>
        </p:nvSpPr>
        <p:spPr>
          <a:xfrm>
            <a:off x="1773936" y="4636007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0.71/2.18/1.10/1.90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3639311" y="4581144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3648455" y="4636007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0.0000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4297679" y="4581144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4306823" y="4636007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0.0000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4956047" y="4581144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TextBox 242"/>
          <p:cNvSpPr txBox="1"/>
          <p:nvPr/>
        </p:nvSpPr>
        <p:spPr>
          <a:xfrm>
            <a:off x="4965191" y="4636007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5458967" y="4581144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4"/>
          <p:cNvSpPr txBox="1"/>
          <p:nvPr/>
        </p:nvSpPr>
        <p:spPr>
          <a:xfrm>
            <a:off x="5468111" y="4636007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11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117335" y="4581144"/>
            <a:ext cx="6675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126479" y="4636007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11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803135" y="4581144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TextBox 248"/>
          <p:cNvSpPr txBox="1"/>
          <p:nvPr/>
        </p:nvSpPr>
        <p:spPr>
          <a:xfrm>
            <a:off x="6812279" y="4636007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306055" y="4581144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0"/>
          <p:cNvSpPr txBox="1"/>
          <p:nvPr/>
        </p:nvSpPr>
        <p:spPr>
          <a:xfrm>
            <a:off x="7315199" y="4636007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808975" y="4581144"/>
            <a:ext cx="5760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TextBox 252"/>
          <p:cNvSpPr txBox="1"/>
          <p:nvPr/>
        </p:nvSpPr>
        <p:spPr>
          <a:xfrm>
            <a:off x="7818119" y="4636007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8403336" y="4581144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TextBox 254"/>
          <p:cNvSpPr txBox="1"/>
          <p:nvPr/>
        </p:nvSpPr>
        <p:spPr>
          <a:xfrm>
            <a:off x="8412480" y="4636007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9061704" y="4581144"/>
            <a:ext cx="3474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TextBox 256"/>
          <p:cNvSpPr txBox="1"/>
          <p:nvPr/>
        </p:nvSpPr>
        <p:spPr>
          <a:xfrm>
            <a:off x="9070848" y="4636007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258" name="Rectangle 257"/>
          <p:cNvSpPr/>
          <p:nvPr/>
        </p:nvSpPr>
        <p:spPr>
          <a:xfrm>
            <a:off x="164592" y="5010912"/>
            <a:ext cx="301751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TextBox 258"/>
          <p:cNvSpPr txBox="1"/>
          <p:nvPr/>
        </p:nvSpPr>
        <p:spPr>
          <a:xfrm>
            <a:off x="173736" y="5065775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19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484632" y="5010912"/>
            <a:ext cx="21031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TextBox 260"/>
          <p:cNvSpPr txBox="1"/>
          <p:nvPr/>
        </p:nvSpPr>
        <p:spPr>
          <a:xfrm>
            <a:off x="493776" y="5065775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5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13232" y="5010912"/>
            <a:ext cx="1033271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TextBox 262"/>
          <p:cNvSpPr txBox="1"/>
          <p:nvPr/>
        </p:nvSpPr>
        <p:spPr>
          <a:xfrm>
            <a:off x="722376" y="5065775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[7 2 11 4 3]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764792" y="5010912"/>
            <a:ext cx="1856231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64"/>
          <p:cNvSpPr txBox="1"/>
          <p:nvPr/>
        </p:nvSpPr>
        <p:spPr>
          <a:xfrm>
            <a:off x="1773936" y="5065775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0.12/1.77/2.03/0.05/1.54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639311" y="5010912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TextBox 266"/>
          <p:cNvSpPr txBox="1"/>
          <p:nvPr/>
        </p:nvSpPr>
        <p:spPr>
          <a:xfrm>
            <a:off x="3648455" y="5065775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3.2519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297679" y="5010912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TextBox 268"/>
          <p:cNvSpPr txBox="1"/>
          <p:nvPr/>
        </p:nvSpPr>
        <p:spPr>
          <a:xfrm>
            <a:off x="4306823" y="5065775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N/A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4956047" y="5010912"/>
            <a:ext cx="48463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TextBox 270"/>
          <p:cNvSpPr txBox="1"/>
          <p:nvPr/>
        </p:nvSpPr>
        <p:spPr>
          <a:xfrm>
            <a:off x="4965191" y="5065775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D37A00"/>
                </a:solidFill>
              </a:rPr>
              <a:t>N/A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5458967" y="5010912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TextBox 272"/>
          <p:cNvSpPr txBox="1"/>
          <p:nvPr/>
        </p:nvSpPr>
        <p:spPr>
          <a:xfrm>
            <a:off x="5468111" y="5065775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2135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6117335" y="5010912"/>
            <a:ext cx="66751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6126479" y="5065775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4209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803135" y="5010912"/>
            <a:ext cx="48463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TextBox 276"/>
          <p:cNvSpPr txBox="1"/>
          <p:nvPr/>
        </p:nvSpPr>
        <p:spPr>
          <a:xfrm>
            <a:off x="6812279" y="5065775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210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7306055" y="5010912"/>
            <a:ext cx="48463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TextBox 278"/>
          <p:cNvSpPr txBox="1"/>
          <p:nvPr/>
        </p:nvSpPr>
        <p:spPr>
          <a:xfrm>
            <a:off x="7315199" y="5065775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808975" y="5010912"/>
            <a:ext cx="57607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TextBox 280"/>
          <p:cNvSpPr txBox="1"/>
          <p:nvPr/>
        </p:nvSpPr>
        <p:spPr>
          <a:xfrm>
            <a:off x="7818119" y="5065775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15.00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8403336" y="5010912"/>
            <a:ext cx="640080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TextBox 282"/>
          <p:cNvSpPr txBox="1"/>
          <p:nvPr/>
        </p:nvSpPr>
        <p:spPr>
          <a:xfrm>
            <a:off x="8412480" y="5065775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30.00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9061704" y="5010912"/>
            <a:ext cx="347472" cy="393192"/>
          </a:xfrm>
          <a:prstGeom prst="rect">
            <a:avLst/>
          </a:prstGeom>
          <a:solidFill>
            <a:srgbClr val="FEF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284"/>
          <p:cNvSpPr txBox="1"/>
          <p:nvPr/>
        </p:nvSpPr>
        <p:spPr>
          <a:xfrm>
            <a:off x="9070848" y="5065775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</a:rPr>
              <a:t>OFF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164592" y="5440679"/>
            <a:ext cx="30175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TextBox 286"/>
          <p:cNvSpPr txBox="1"/>
          <p:nvPr/>
        </p:nvSpPr>
        <p:spPr>
          <a:xfrm>
            <a:off x="173736" y="5495543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484632" y="5440679"/>
            <a:ext cx="2103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TextBox 288"/>
          <p:cNvSpPr txBox="1"/>
          <p:nvPr/>
        </p:nvSpPr>
        <p:spPr>
          <a:xfrm>
            <a:off x="493776" y="5495543"/>
            <a:ext cx="192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3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13232" y="5440679"/>
            <a:ext cx="103327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TextBox 290"/>
          <p:cNvSpPr txBox="1"/>
          <p:nvPr/>
        </p:nvSpPr>
        <p:spPr>
          <a:xfrm>
            <a:off x="722376" y="5495543"/>
            <a:ext cx="1014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[8 3 9]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764792" y="5440679"/>
            <a:ext cx="1856231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TextBox 292"/>
          <p:cNvSpPr txBox="1"/>
          <p:nvPr/>
        </p:nvSpPr>
        <p:spPr>
          <a:xfrm>
            <a:off x="1773936" y="5495543"/>
            <a:ext cx="18379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1.16/2.81/0.41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3639311" y="5440679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294"/>
          <p:cNvSpPr txBox="1"/>
          <p:nvPr/>
        </p:nvSpPr>
        <p:spPr>
          <a:xfrm>
            <a:off x="3648455" y="549554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0.0378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4297679" y="5440679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TextBox 296"/>
          <p:cNvSpPr txBox="1"/>
          <p:nvPr/>
        </p:nvSpPr>
        <p:spPr>
          <a:xfrm>
            <a:off x="4306823" y="549554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0.0378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4956047" y="5440679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TextBox 298"/>
          <p:cNvSpPr txBox="1"/>
          <p:nvPr/>
        </p:nvSpPr>
        <p:spPr>
          <a:xfrm>
            <a:off x="4965191" y="549554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E8A44"/>
                </a:solidFill>
              </a:rPr>
              <a:t>YES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5458967" y="5440679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TextBox 300"/>
          <p:cNvSpPr txBox="1"/>
          <p:nvPr/>
        </p:nvSpPr>
        <p:spPr>
          <a:xfrm>
            <a:off x="5468111" y="549554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13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6117335" y="5440679"/>
            <a:ext cx="66751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TextBox 302"/>
          <p:cNvSpPr txBox="1"/>
          <p:nvPr/>
        </p:nvSpPr>
        <p:spPr>
          <a:xfrm>
            <a:off x="6126479" y="5495543"/>
            <a:ext cx="649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13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6803135" y="5440679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304"/>
          <p:cNvSpPr txBox="1"/>
          <p:nvPr/>
        </p:nvSpPr>
        <p:spPr>
          <a:xfrm>
            <a:off x="6812279" y="549554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7306055" y="5440679"/>
            <a:ext cx="48463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TextBox 306"/>
          <p:cNvSpPr txBox="1"/>
          <p:nvPr/>
        </p:nvSpPr>
        <p:spPr>
          <a:xfrm>
            <a:off x="7315199" y="5495543"/>
            <a:ext cx="466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2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808975" y="5440679"/>
            <a:ext cx="5760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TextBox 308"/>
          <p:cNvSpPr txBox="1"/>
          <p:nvPr/>
        </p:nvSpPr>
        <p:spPr>
          <a:xfrm>
            <a:off x="7818119" y="5495543"/>
            <a:ext cx="557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0.01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403336" y="5440679"/>
            <a:ext cx="640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TextBox 310"/>
          <p:cNvSpPr txBox="1"/>
          <p:nvPr/>
        </p:nvSpPr>
        <p:spPr>
          <a:xfrm>
            <a:off x="8412480" y="5495543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C3E50"/>
                </a:solidFill>
              </a:rPr>
              <a:t>0.00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9061704" y="5440679"/>
            <a:ext cx="347472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TextBox 312"/>
          <p:cNvSpPr txBox="1"/>
          <p:nvPr/>
        </p:nvSpPr>
        <p:spPr>
          <a:xfrm>
            <a:off x="9070848" y="5495543"/>
            <a:ext cx="329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Summary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20 trials, N_sys ∈ {3–6}, routes ∈ {1–12}, d1 ∈ U[0,3 s]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3291840" cy="155448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15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Cost identical
(ON = OFF)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188720"/>
            <a:ext cx="3291840" cy="1554480"/>
          </a:xfrm>
          <a:prstGeom prst="rect">
            <a:avLst/>
          </a:prstGeom>
          <a:solidFill>
            <a:srgbClr val="D3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1280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1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Cost differs
(Trial 13 — ON cheaper)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188720"/>
            <a:ext cx="3291840" cy="1554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59" y="1280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4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20116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N/A — OFF timed out
(ON completed)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37A00"/>
                </a:solidFill>
              </a:rPr>
              <a:t>Key observation: WeakRule ON is NEVER worse than OFF on cases where both 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74720"/>
            <a:ext cx="2103120" cy="4572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73152" cy="457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49300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B82"/>
                </a:solidFill>
              </a:rPr>
              <a:t>Avg time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3075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8A44"/>
                </a:solidFill>
              </a:rPr>
              <a:t>0.54 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3474720"/>
            <a:ext cx="2103120" cy="4572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51760" y="3474720"/>
            <a:ext cx="73152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88920" y="349300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B82"/>
                </a:solidFill>
              </a:rPr>
              <a:t>Avg time 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373075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</a:rPr>
              <a:t>8.47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3474720"/>
            <a:ext cx="2103120" cy="4572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937760" y="3474720"/>
            <a:ext cx="73152" cy="45720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74920" y="349300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B82"/>
                </a:solidFill>
              </a:rPr>
              <a:t>Speedup (avg)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373075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6BB0"/>
                </a:solidFill>
              </a:rPr>
              <a:t>~16×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3760" y="3474720"/>
            <a:ext cx="2103120" cy="4572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223760" y="3474720"/>
            <a:ext cx="73152" cy="457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60920" y="349300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B82"/>
                </a:solidFill>
              </a:rPr>
              <a:t>Max nodes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373075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8A44"/>
                </a:solidFill>
              </a:rPr>
              <a:t>2135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0" y="3474720"/>
            <a:ext cx="2103120" cy="4572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509760" y="3474720"/>
            <a:ext cx="73152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46920" y="349300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B82"/>
                </a:solidFill>
              </a:rPr>
              <a:t>Max nodes 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73075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</a:rPr>
              <a:t>5232+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16052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• Small cases (N=3): ON and OFF nearly identical in time and nodes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59028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• N≥5 cases: OFF search space explodes — Trials 3,5,14,17,19 all timeout at 30 s while ON completes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20056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• WeakRule ON prunes the search space dramatically without sacrificing optimality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449824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• Trial 13 is the only cost difference — and ON finds the BETTER solution (see Case Study slides)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Case Study: Trial 13  —  Why Costs Differ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routes=[10 3 1 4]  ·  d1=[0.48, 2.79, 2.42, 1.90] s  ·  N=4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303520" cy="50292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WeakRule ON   g = 1.5808  ★ OPTIMAL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43000"/>
            <a:ext cx="539496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17043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WeakRule OFF   g = 1.7208  ★ OPTIMAL (for OFF)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73152" cy="347472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M2 order: N4 → N1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828800"/>
            <a:ext cx="73152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M2 order: N1 → N4  (order reversed!)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86000"/>
            <a:ext cx="73152" cy="347472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23042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N4 schedule compact (no gap)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286000"/>
            <a:ext cx="73152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23042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N4 has early partial block then gap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7472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7614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N3 resets sub1 to finish exactly at tw1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743200"/>
            <a:ext cx="73152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27614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At tw: N2 requests green, V_temp(2,1)=1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00400"/>
            <a:ext cx="73152" cy="347472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2186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N3 immediately starts sub2 (red) at tw1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00400"/>
            <a:ext cx="73152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7960" y="32186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x locked by V_temp → green priority forced to N2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57600"/>
            <a:ext cx="73152" cy="347472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3675887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x co-decides with V_temp → optimal timing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657600"/>
            <a:ext cx="73152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37960" y="3675887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N3 must wait → cascade delay → g=1.7208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297680"/>
            <a:ext cx="11430000" cy="73152"/>
          </a:xfrm>
          <a:prstGeom prst="rect">
            <a:avLst/>
          </a:prstGeom>
          <a:solidFill>
            <a:srgbClr val="D3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Root cause:  In OFF mode, x depends solely on V_temp.  At the critical moment tw (when N3 finishes sub1 and wants to start sub2 on red space), N2 is requesting green (V_temp(2,1)=1 &gt; x).  This automatically assigns green priority to N2, locking N3 out. In ON mode, x can co-decide with V_temp, so N3 can precisely time its sub1 reset to finish at tw1 (when N4 releases red), then immediately occupy red — no wasted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Trial 13 — WeakRule ON  |  g = 1.5808  ★ OPTIMAL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7 leaves · 46 nodes · 0.30 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394960"/>
          </a:xfrm>
          <a:prstGeom prst="rect">
            <a:avLst/>
          </a:prstGeom>
          <a:solidFill>
            <a:srgbClr val="F0F3F6"/>
          </a:solidFill>
          <a:ln w="19050">
            <a:solidFill>
              <a:srgbClr val="556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36118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B82"/>
                </a:solidFill>
              </a:rPr>
              <a:t>[ Paste screenshot: Figure 1 — WeakRule ON Path Explorer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37A00"/>
                </a:solidFill>
              </a:rPr>
              <a:t>N3 finishes sub1 green precisely at tw1 (N4 releases red) → immediately starts sub2 red · M2: N4→N1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Trial 13 — WeakRule OFF  |  g = 1.7208  ★ OPTIMAL (for OFF)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50 leaves · 248 nodes · 0.25 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394960"/>
          </a:xfrm>
          <a:prstGeom prst="rect">
            <a:avLst/>
          </a:prstGeom>
          <a:solidFill>
            <a:srgbClr val="F0F3F6"/>
          </a:solidFill>
          <a:ln w="19050">
            <a:solidFill>
              <a:srgbClr val="556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36118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B82"/>
                </a:solidFill>
              </a:rPr>
              <a:t>[ Paste screenshot: Figure 2 — WeakRule OFF Path 1 (optimal)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37A00"/>
                </a:solidFill>
              </a:rPr>
              <a:t>OFF chooses M2: N1→N4 to avoid the V_temp conflict — different ordering, but still suboptimal vs 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Trial 13 — WeakRule OFF  |  Paths 12 &amp; 13  (g = 3.1516)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Same structure as ON optimal — but structurally blocked from achieving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577840" cy="2560320"/>
          </a:xfrm>
          <a:prstGeom prst="rect">
            <a:avLst/>
          </a:prstGeom>
          <a:solidFill>
            <a:srgbClr val="F0F3F6"/>
          </a:solidFill>
          <a:ln w="19050">
            <a:solidFill>
              <a:srgbClr val="556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219455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B82"/>
                </a:solidFill>
              </a:rPr>
              <a:t>[ Paste screenshot: OFF Path 12 — N3 gives up green, waits for next sig_m ]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097280"/>
            <a:ext cx="5577840" cy="2560320"/>
          </a:xfrm>
          <a:prstGeom prst="rect">
            <a:avLst/>
          </a:prstGeom>
          <a:solidFill>
            <a:srgbClr val="F0F3F6"/>
          </a:solidFill>
          <a:ln w="19050">
            <a:solidFill>
              <a:srgbClr val="556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219455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B82"/>
                </a:solidFill>
              </a:rPr>
              <a:t>[ Paste screenshot: OFF Path 13 — N3 competes green back after N2 occupies tw→tw1 ]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7947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37A00"/>
                </a:solidFill>
              </a:rPr>
              <a:t>Both paths attempt the same M2 order as ON optimal (N4→N1) but V_temp(2,1)=1 &gt; x forces green to N2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251960"/>
            <a:ext cx="1371600" cy="41148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4306824"/>
            <a:ext cx="1335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Path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06824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N3 yields green immediately at tw · waits until next sig_m · delay locked in · g=3.15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00600"/>
            <a:ext cx="1371600" cy="41148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4855464"/>
            <a:ext cx="1335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Path 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855464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N3 holds green · N2 forcibly inserts between tw and tw1 · N3 reclaims after · same delay · g=3.15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349240"/>
            <a:ext cx="1371600" cy="411480"/>
          </a:xfrm>
          <a:prstGeom prst="rect">
            <a:avLst/>
          </a:prstGeom>
          <a:solidFill>
            <a:srgbClr val="D3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4048" y="5404104"/>
            <a:ext cx="1335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404104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No matter how the tree branches, the V_temp constraint makes g≈3.15 a hard lower bound for this sub-tree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897880"/>
            <a:ext cx="1371600" cy="41148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" y="5952744"/>
            <a:ext cx="13350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OFF optimal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5952744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Escapes by switching to N1→N4 on M2, trading conflict avoidance for ordering — but still g=1.72 &gt; 1.58 (ON)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Root Cause: x Decision Rule in OFF vs ON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Why ON can find better solutions that OFF structurally cannot reach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30352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WeakRule OFF  (original)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x is determined by V_temp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2257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At tw:  V_temp(n2, green) =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0392B"/>
                </a:solidFill>
              </a:rPr>
              <a:t>→  x &lt; V_temp(n2,1)  always holds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8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0392B"/>
                </a:solidFill>
              </a:rPr>
              <a:t>→  green priority automatically → N2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03904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0392B"/>
                </a:solidFill>
              </a:rPr>
              <a:t>→  N3 cannot start sub2 at optimal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0392B"/>
                </a:solidFill>
              </a:rPr>
              <a:t>→  reset timing is constrained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9145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0392B"/>
                </a:solidFill>
              </a:rPr>
              <a:t>→  gap/delay in N3 schedule is unavoidable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85232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0392B"/>
                </a:solidFill>
              </a:rPr>
              <a:t>→  g_min for this branch ≈ 3.15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188720"/>
            <a:ext cx="5394960" cy="457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207008"/>
            <a:ext cx="5394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WeakRule ON  (new method)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82880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x co-decides alongside V_temp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32257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At tw:  resetting rule allows x to be 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1635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        such that sub1 ends exactly at tw1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1012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8A44"/>
                </a:solidFill>
              </a:rPr>
              <a:t>→  N3 finishes green sub1 at tw1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80390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8A44"/>
                </a:solidFill>
              </a:rPr>
              <a:t>→  N4 releases red at tw1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2976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8A44"/>
                </a:solidFill>
              </a:rPr>
              <a:t>→  N3 immediately occupies red at tw1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79145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8A44"/>
                </a:solidFill>
              </a:rPr>
              <a:t>→  no gap, no extra delay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28523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8A44"/>
                </a:solidFill>
              </a:rPr>
              <a:t>→  g = 1.58  (global optimal)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1188720"/>
            <a:ext cx="73152" cy="5577840"/>
          </a:xfrm>
          <a:prstGeom prst="rect">
            <a:avLst/>
          </a:prstGeom>
          <a:solidFill>
            <a:srgbClr val="556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77840" y="36576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WeakRule ON — optimality verification across 20 random trials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91440" cy="82296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8A44"/>
                </a:solidFill>
              </a:rPr>
              <a:t>Optimality preserved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In all 15 trials where both ON and OFF completed without timeout, cost is identical. WeakRule ON never produces a suboptimal 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40280"/>
            <a:ext cx="91440" cy="822960"/>
          </a:xfrm>
          <a:prstGeom prst="rect">
            <a:avLst/>
          </a:prstGeom>
          <a:solidFill>
            <a:srgbClr val="D3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240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37A00"/>
                </a:solidFill>
              </a:rPr>
              <a:t>Trial 13 — ON is strictly better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243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ON g=1.5808 &lt; OFF g=1.7208. This is not a bug: OFF's V_temp constraint structurally prevents it from reaching the optimal solution that ON finds.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91839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29183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</a:rPr>
              <a:t>OFF timeout failures (4/20)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75887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Trials 3,5,14,17,19: OFF hits the 30s timeout with no complete path. ON completes all 4 cases efficiently. This confirms the exponential search-space reduction of WeakRule 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343400"/>
            <a:ext cx="91440" cy="822960"/>
          </a:xfrm>
          <a:prstGeom prst="rect">
            <a:avLst/>
          </a:prstGeom>
          <a:solidFill>
            <a:srgbClr val="1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3434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6BB0"/>
                </a:solidFill>
              </a:rPr>
              <a:t>Efficiency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72744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Average time: ON=0.54 s vs OFF=8.47 s (~16× faster). Node count similarly reduced. Advantage grows sharply with N_sys ≥ 5.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394959"/>
            <a:ext cx="91440" cy="822960"/>
          </a:xfrm>
          <a:prstGeom prst="rect">
            <a:avLst/>
          </a:prstGeom>
          <a:solidFill>
            <a:srgbClr val="556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39495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56B82"/>
                </a:solidFill>
              </a:rPr>
              <a:t>Mechanism confirmed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779007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The x co-decision capability in ON allows precise reset timing aligned to resource release events (tw1), eliminating idle gaps that are unavoidable under OFF's V_temp-only rule.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00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37A00"/>
                </a:solidFill>
              </a:rPr>
              <a:t>WeakRule ON is both more efficient and at least as optimal as WeakRule OFF — a strict improvement.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1796</Words>
  <Application>Microsoft Office PowerPoint</Application>
  <PresentationFormat>Custom</PresentationFormat>
  <Paragraphs>413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Renke Wang</cp:lastModifiedBy>
  <cp:revision>1</cp:revision>
  <dcterms:created xsi:type="dcterms:W3CDTF">2013-01-27T09:14:16Z</dcterms:created>
  <dcterms:modified xsi:type="dcterms:W3CDTF">2026-04-22T00:41:32Z</dcterms:modified>
  <cp:category/>
</cp:coreProperties>
</file>