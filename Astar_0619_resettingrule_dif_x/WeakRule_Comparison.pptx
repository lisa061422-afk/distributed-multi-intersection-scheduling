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6" d="100"/>
          <a:sy n="146" d="100"/>
        </p:scale>
        <p:origin x="100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ke Wang" userId="89e21b96a9a5cd01" providerId="LiveId" clId="{925CB866-62FD-423C-9729-33FA606951A8}"/>
    <pc:docChg chg="modSld">
      <pc:chgData name="Renke Wang" userId="89e21b96a9a5cd01" providerId="LiveId" clId="{925CB866-62FD-423C-9729-33FA606951A8}" dt="2026-04-22T02:07:41.693" v="78" actId="1076"/>
      <pc:docMkLst>
        <pc:docMk/>
      </pc:docMkLst>
      <pc:sldChg chg="addSp modSp mod">
        <pc:chgData name="Renke Wang" userId="89e21b96a9a5cd01" providerId="LiveId" clId="{925CB866-62FD-423C-9729-33FA606951A8}" dt="2026-04-22T02:05:21.582" v="65" actId="1076"/>
        <pc:sldMkLst>
          <pc:docMk/>
          <pc:sldMk cId="0" sldId="262"/>
        </pc:sldMkLst>
        <pc:picChg chg="add mod">
          <ac:chgData name="Renke Wang" userId="89e21b96a9a5cd01" providerId="LiveId" clId="{925CB866-62FD-423C-9729-33FA606951A8}" dt="2026-04-22T02:05:21.582" v="65" actId="1076"/>
          <ac:picMkLst>
            <pc:docMk/>
            <pc:sldMk cId="0" sldId="262"/>
            <ac:picMk id="10" creationId="{CA8CB88C-D180-D93B-D40B-9E5D669C30AE}"/>
          </ac:picMkLst>
        </pc:picChg>
      </pc:sldChg>
      <pc:sldChg chg="addSp modSp mod">
        <pc:chgData name="Renke Wang" userId="89e21b96a9a5cd01" providerId="LiveId" clId="{925CB866-62FD-423C-9729-33FA606951A8}" dt="2026-04-22T02:07:41.693" v="78" actId="1076"/>
        <pc:sldMkLst>
          <pc:docMk/>
          <pc:sldMk cId="0" sldId="263"/>
        </pc:sldMkLst>
        <pc:picChg chg="add mod">
          <ac:chgData name="Renke Wang" userId="89e21b96a9a5cd01" providerId="LiveId" clId="{925CB866-62FD-423C-9729-33FA606951A8}" dt="2026-04-22T02:07:41.693" v="78" actId="1076"/>
          <ac:picMkLst>
            <pc:docMk/>
            <pc:sldMk cId="0" sldId="263"/>
            <ac:picMk id="10" creationId="{1132E1C3-7961-DF4B-A15D-CAECE145E4ED}"/>
          </ac:picMkLst>
        </pc:picChg>
      </pc:sldChg>
      <pc:sldChg chg="addSp modSp mod">
        <pc:chgData name="Renke Wang" userId="89e21b96a9a5cd01" providerId="LiveId" clId="{925CB866-62FD-423C-9729-33FA606951A8}" dt="2026-04-22T02:06:50.576" v="74" actId="1076"/>
        <pc:sldMkLst>
          <pc:docMk/>
          <pc:sldMk cId="0" sldId="264"/>
        </pc:sldMkLst>
        <pc:picChg chg="add mod">
          <ac:chgData name="Renke Wang" userId="89e21b96a9a5cd01" providerId="LiveId" clId="{925CB866-62FD-423C-9729-33FA606951A8}" dt="2026-04-22T02:06:22.403" v="70" actId="1076"/>
          <ac:picMkLst>
            <pc:docMk/>
            <pc:sldMk cId="0" sldId="264"/>
            <ac:picMk id="24" creationId="{5CDBCBF3-4B95-2B11-9C1A-1EA11175226D}"/>
          </ac:picMkLst>
        </pc:picChg>
        <pc:picChg chg="add mod">
          <ac:chgData name="Renke Wang" userId="89e21b96a9a5cd01" providerId="LiveId" clId="{925CB866-62FD-423C-9729-33FA606951A8}" dt="2026-04-22T02:06:50.576" v="74" actId="1076"/>
          <ac:picMkLst>
            <pc:docMk/>
            <pc:sldMk cId="0" sldId="264"/>
            <ac:picMk id="26" creationId="{A3096FDE-4B2E-D3F6-C6E3-10FA2E905B80}"/>
          </ac:picMkLst>
        </pc:picChg>
      </pc:sldChg>
      <pc:sldChg chg="modSp mod">
        <pc:chgData name="Renke Wang" userId="89e21b96a9a5cd01" providerId="LiveId" clId="{925CB866-62FD-423C-9729-33FA606951A8}" dt="2026-04-22T02:01:21.005" v="20" actId="1035"/>
        <pc:sldMkLst>
          <pc:docMk/>
          <pc:sldMk cId="0" sldId="267"/>
        </pc:sldMkLst>
        <pc:spChg chg="mod">
          <ac:chgData name="Renke Wang" userId="89e21b96a9a5cd01" providerId="LiveId" clId="{925CB866-62FD-423C-9729-33FA606951A8}" dt="2026-04-22T02:01:21.005" v="20" actId="1035"/>
          <ac:spMkLst>
            <pc:docMk/>
            <pc:sldMk cId="0" sldId="267"/>
            <ac:spMk id="5" creationId="{00000000-0000-0000-0000-000000000000}"/>
          </ac:spMkLst>
        </pc:spChg>
      </pc:sldChg>
      <pc:sldChg chg="modSp mod">
        <pc:chgData name="Renke Wang" userId="89e21b96a9a5cd01" providerId="LiveId" clId="{925CB866-62FD-423C-9729-33FA606951A8}" dt="2026-04-22T02:02:45.308" v="47" actId="1035"/>
        <pc:sldMkLst>
          <pc:docMk/>
          <pc:sldMk cId="0" sldId="273"/>
        </pc:sldMkLst>
        <pc:spChg chg="mod">
          <ac:chgData name="Renke Wang" userId="89e21b96a9a5cd01" providerId="LiveId" clId="{925CB866-62FD-423C-9729-33FA606951A8}" dt="2026-04-22T02:02:45.308" v="47" actId="1035"/>
          <ac:spMkLst>
            <pc:docMk/>
            <pc:sldMk cId="0" sldId="273"/>
            <ac:spMk id="5" creationId="{00000000-0000-0000-0000-000000000000}"/>
          </ac:spMkLst>
        </pc:spChg>
      </pc:sldChg>
      <pc:sldChg chg="modSp mod">
        <pc:chgData name="Renke Wang" userId="89e21b96a9a5cd01" providerId="LiveId" clId="{925CB866-62FD-423C-9729-33FA606951A8}" dt="2026-04-22T02:02:59.022" v="62" actId="1036"/>
        <pc:sldMkLst>
          <pc:docMk/>
          <pc:sldMk cId="0" sldId="277"/>
        </pc:sldMkLst>
        <pc:spChg chg="mod">
          <ac:chgData name="Renke Wang" userId="89e21b96a9a5cd01" providerId="LiveId" clId="{925CB866-62FD-423C-9729-33FA606951A8}" dt="2026-04-22T02:02:59.022" v="62" actId="1036"/>
          <ac:spMkLst>
            <pc:docMk/>
            <pc:sldMk cId="0" sldId="277"/>
            <ac:spMk id="6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WeakRule ON vs OFF: Optimality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6B82"/>
                </a:solidFill>
              </a:rPr>
              <a:t>Random Batch Experiment  |  Single-Intersection Decision Tree Scheduler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</a:rPr>
              <a:t>20 random trials  ·  N_sys ∈ {3–6}  ·  routes ∈ {1–12}  ·  d1 ∈ U[0, 3 s]  ·  seed =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37A00"/>
                </a:solidFill>
              </a:rPr>
              <a:t>Goal: Verify that WeakRule ON never produces a suboptimal solution relative to WeakRule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B82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Experiment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RunRandom.m  ·  MATLAB  ·  Decision Tree Scheduler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194560" cy="502920"/>
          </a:xfrm>
          <a:prstGeom prst="rect">
            <a:avLst/>
          </a:prstGeom>
          <a:solidFill>
            <a:srgbClr val="1A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6187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Centralized decision tree scheduler for single intersection with 4 arms (12 route types)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2194560" cy="502920"/>
          </a:xfrm>
          <a:prstGeom prst="rect">
            <a:avLst/>
          </a:prstGeom>
          <a:solidFill>
            <a:srgbClr val="1A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WeakRule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9202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New method: x co-decides with V_temp → allows optimal reset timing for sub-task transitions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05456"/>
            <a:ext cx="2194560" cy="502920"/>
          </a:xfrm>
          <a:prstGeom prst="rect">
            <a:avLst/>
          </a:prstGeom>
          <a:solidFill>
            <a:srgbClr val="1A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5786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WeakRule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57860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Original method: x depends solely on V_temp → resource priority locked by occupancy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63824"/>
            <a:ext cx="2194560" cy="502920"/>
          </a:xfrm>
          <a:prstGeom prst="rect">
            <a:avLst/>
          </a:prstGeom>
          <a:solidFill>
            <a:srgbClr val="1A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2369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23697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g-cost = total weighted delay across all N systems (lower = better)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22191"/>
            <a:ext cx="2194560" cy="502920"/>
          </a:xfrm>
          <a:prstGeom prst="rect">
            <a:avLst/>
          </a:prstGeom>
          <a:solidFill>
            <a:srgbClr val="1A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89534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Random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895344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N_sys ~ Uniform{3,4,5,6},  routes ~ Uniform{1…12} (repetition allowed),  d1 ~ U[0,3] 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80559"/>
            <a:ext cx="2194560" cy="502920"/>
          </a:xfrm>
          <a:prstGeom prst="rect">
            <a:avLst/>
          </a:prstGeom>
          <a:solidFill>
            <a:srgbClr val="1A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45537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Switches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55371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pruneNodes=false, useBnB=false, useTBound=true, timeout=30 s per 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38928"/>
            <a:ext cx="2194560" cy="502920"/>
          </a:xfrm>
          <a:prstGeom prst="rect">
            <a:avLst/>
          </a:prstGeom>
          <a:solidFill>
            <a:srgbClr val="1A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5212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Trials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2120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20 trials, RNG seed=42 for full reproducibility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797296"/>
            <a:ext cx="2194560" cy="502920"/>
          </a:xfrm>
          <a:prstGeom prst="rect">
            <a:avLst/>
          </a:prstGeom>
          <a:solidFill>
            <a:srgbClr val="1A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5870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Output cols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87044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Cost_ON, Cost_OFF, Match, Nodes_ON/OFF, Leaves_ON/OFF, Time_ON/OFF, Timeout flags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Results Table — Trials 1–10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20 random cases · WeakRule ON vs OFF · seed=42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43000"/>
            <a:ext cx="301751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79" y="1188720"/>
            <a:ext cx="26517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143000"/>
            <a:ext cx="210312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7373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143000"/>
            <a:ext cx="1033271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188720"/>
            <a:ext cx="9966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64792" y="1143000"/>
            <a:ext cx="1856231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83080" y="1188720"/>
            <a:ext cx="181965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d1 (s)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39311" y="1143000"/>
            <a:ext cx="640080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599" y="1188720"/>
            <a:ext cx="60350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143000"/>
            <a:ext cx="640080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5967" y="1188720"/>
            <a:ext cx="60350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56047" y="1143000"/>
            <a:ext cx="484632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74335" y="1188720"/>
            <a:ext cx="4480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58967" y="1143000"/>
            <a:ext cx="640080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77255" y="1188720"/>
            <a:ext cx="60350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17335" y="1143000"/>
            <a:ext cx="667512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35623" y="1188720"/>
            <a:ext cx="63093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03135" y="1143000"/>
            <a:ext cx="484632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21423" y="1188720"/>
            <a:ext cx="4480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6055" y="1143000"/>
            <a:ext cx="484632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24343" y="1188720"/>
            <a:ext cx="4480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08975" y="1143000"/>
            <a:ext cx="576072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27263" y="1188720"/>
            <a:ext cx="539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t_ON(s)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03336" y="1143000"/>
            <a:ext cx="640080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21624" y="1188720"/>
            <a:ext cx="60350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t_OFF(s)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61704" y="1143000"/>
            <a:ext cx="347472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79992" y="1188720"/>
            <a:ext cx="3108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1572768"/>
            <a:ext cx="30175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73736" y="1627632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" y="1572768"/>
            <a:ext cx="21031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3776" y="1627632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1572768"/>
            <a:ext cx="103327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2376" y="1627632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[12 9 8 2]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64792" y="1572768"/>
            <a:ext cx="185623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773936" y="1627632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0.47/0.17/2.60/1.80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39311" y="1572768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48455" y="162763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79" y="1572768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06823" y="162763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56047" y="1572768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65191" y="162763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8967" y="1572768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68111" y="162763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17335" y="1572768"/>
            <a:ext cx="66751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26479" y="1627632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03135" y="1572768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12279" y="162763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06055" y="1572768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15199" y="162763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08975" y="1572768"/>
            <a:ext cx="57607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818119" y="1627632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03336" y="1572768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12480" y="162763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61704" y="1572768"/>
            <a:ext cx="34747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70848" y="1627632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64592" y="2002536"/>
            <a:ext cx="30175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73736" y="2057400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4632" y="2002536"/>
            <a:ext cx="2103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93776" y="2057400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3232" y="2002536"/>
            <a:ext cx="103327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22376" y="2057400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 12 10 3 3]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64792" y="2002536"/>
            <a:ext cx="185623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773936" y="2057400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0.55/0.91/1.57/1.30/0.87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39311" y="2002536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648455" y="205740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1.4110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79" y="2002536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306823" y="205740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1.4110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56047" y="2002536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65191" y="2057400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58967" y="2002536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68111" y="205740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261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17335" y="2002536"/>
            <a:ext cx="6675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126479" y="2057400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3660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03135" y="2002536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812279" y="2057400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306055" y="2002536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315199" y="2057400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833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808975" y="2002536"/>
            <a:ext cx="5760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818119" y="2057400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0.48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03336" y="2002536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412480" y="205740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13.71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61704" y="2002536"/>
            <a:ext cx="3474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070848" y="2057400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64592" y="2432304"/>
            <a:ext cx="30175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73736" y="2487168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4632" y="2432304"/>
            <a:ext cx="21031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93776" y="2487168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13232" y="2432304"/>
            <a:ext cx="103327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22376" y="2487168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[2 4 5 6 10]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64792" y="2432304"/>
            <a:ext cx="185623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773936" y="2487168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0.60/1.54/1.78/0.14/1.82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39311" y="2432304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648455" y="2487168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3.4669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297679" y="2432304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306823" y="2487168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3.4669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56047" y="2432304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965191" y="2487168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58967" y="2432304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68111" y="2487168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859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17335" y="2432304"/>
            <a:ext cx="66751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126479" y="2487168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5232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03135" y="2432304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812279" y="2487168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122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06055" y="2432304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315199" y="2487168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808975" y="2432304"/>
            <a:ext cx="57607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818119" y="2487168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1.24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403336" y="2432304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412480" y="2487168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061704" y="2432304"/>
            <a:ext cx="34747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070848" y="2487168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4592" y="2862072"/>
            <a:ext cx="30175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73736" y="2916936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84632" y="2862072"/>
            <a:ext cx="2103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93776" y="2916936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13232" y="2862072"/>
            <a:ext cx="103327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22376" y="2916936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 12 12]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764792" y="2862072"/>
            <a:ext cx="185623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773936" y="2916936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2.43/0.91/0.29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39311" y="2862072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648455" y="2916936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0.1646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297679" y="2862072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306823" y="2916936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0.1646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56047" y="2862072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4965191" y="2916936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58967" y="2862072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468111" y="2916936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117335" y="2862072"/>
            <a:ext cx="6675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126479" y="2916936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15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803135" y="2862072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812279" y="2916936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306055" y="2862072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315199" y="2916936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808975" y="2862072"/>
            <a:ext cx="5760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7818119" y="2916936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403336" y="2862072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412480" y="2916936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061704" y="2862072"/>
            <a:ext cx="3474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9070848" y="2916936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164592" y="3291839"/>
            <a:ext cx="30175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73736" y="3346703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84632" y="3291839"/>
            <a:ext cx="21031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493776" y="3346703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13232" y="3291839"/>
            <a:ext cx="103327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22376" y="3346703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[6 2 6 1 11]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764792" y="3291839"/>
            <a:ext cx="185623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773936" y="3346703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0.78/1.99/0.94/1.56/1.64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39311" y="3291839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648455" y="334670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1.6901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297679" y="3291839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4306823" y="334670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1.6901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956047" y="3291839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4965191" y="3346703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458967" y="3291839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468111" y="334670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17335" y="3291839"/>
            <a:ext cx="66751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126479" y="3346703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5031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803135" y="3291839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6812279" y="3346703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14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306055" y="3291839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315199" y="3346703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17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808975" y="3291839"/>
            <a:ext cx="57607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7818119" y="3346703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403336" y="3291839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8412480" y="334670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061704" y="3291839"/>
            <a:ext cx="34747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9070848" y="3346703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64592" y="3721608"/>
            <a:ext cx="30175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173736" y="3776472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84632" y="3721608"/>
            <a:ext cx="2103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493776" y="3776472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13232" y="3721608"/>
            <a:ext cx="103327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22376" y="3776472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[12 10 12]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764792" y="3721608"/>
            <a:ext cx="185623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773936" y="3776472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2.68/1.79/2.77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639311" y="3721608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648455" y="377647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0.7043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297679" y="3721608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306823" y="377647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0.7043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956047" y="3721608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4965191" y="377647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5458967" y="3721608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5468111" y="377647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117335" y="3721608"/>
            <a:ext cx="6675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126479" y="3776472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17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803135" y="3721608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812279" y="377647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306055" y="3721608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7315199" y="377647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808975" y="3721608"/>
            <a:ext cx="5760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7818119" y="3776472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403336" y="3721608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8412480" y="377647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061704" y="3721608"/>
            <a:ext cx="3474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9070848" y="3776472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164592" y="4151376"/>
            <a:ext cx="30175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173736" y="4206240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484632" y="4151376"/>
            <a:ext cx="21031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493776" y="4206240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13232" y="4151376"/>
            <a:ext cx="103327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722376" y="4206240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[3 1 4]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764792" y="4151376"/>
            <a:ext cx="185623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1773936" y="4206240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1.17/0.81/2.49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639311" y="4151376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3648455" y="420624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0.4334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297679" y="4151376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4306823" y="420624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0.4334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956047" y="4151376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4965191" y="4206240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5458967" y="4151376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5468111" y="420624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117335" y="4151376"/>
            <a:ext cx="66751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6126479" y="4206240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803135" y="4151376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6812279" y="4206240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306055" y="4151376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7315199" y="4206240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7808975" y="4151376"/>
            <a:ext cx="57607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7818119" y="4206240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0.02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8403336" y="4151376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8412480" y="420624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9061704" y="4151376"/>
            <a:ext cx="34747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9070848" y="4206240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164592" y="4581144"/>
            <a:ext cx="30175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173736" y="4636007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484632" y="4581144"/>
            <a:ext cx="2103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493776" y="4636007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13232" y="4581144"/>
            <a:ext cx="103327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722376" y="4636007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[4 7 2 10]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764792" y="4581144"/>
            <a:ext cx="185623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1773936" y="4636007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0.22/2.96/2.32/0.60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3639311" y="4581144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3648455" y="4636007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0.4614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4297679" y="4581144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306823" y="4636007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0.4614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4956047" y="4581144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4965191" y="4636007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458967" y="4581144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5468111" y="4636007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35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117335" y="4581144"/>
            <a:ext cx="6675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6126479" y="4636007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44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6803135" y="4581144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6812279" y="4636007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306055" y="4581144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7315199" y="4636007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7808975" y="4581144"/>
            <a:ext cx="5760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7818119" y="4636007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0.05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8403336" y="4581144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8412480" y="4636007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0.04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9061704" y="4581144"/>
            <a:ext cx="3474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9070848" y="4636007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164592" y="5010912"/>
            <a:ext cx="30175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173736" y="5065775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484632" y="5010912"/>
            <a:ext cx="21031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493776" y="5065775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13232" y="5010912"/>
            <a:ext cx="103327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722376" y="5065775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[10 9 9]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764792" y="5010912"/>
            <a:ext cx="185623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1773936" y="5065775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2.31/0.22/1.08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639311" y="5010912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3648455" y="5065775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4297679" y="5010912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4306823" y="5065775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956047" y="5010912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4965191" y="5065775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458967" y="5010912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468111" y="5065775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6117335" y="5010912"/>
            <a:ext cx="66751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6126479" y="5065775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803135" y="5010912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6812279" y="5065775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7306055" y="5010912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7315199" y="5065775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808975" y="5010912"/>
            <a:ext cx="57607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7818119" y="5065775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8403336" y="5010912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8412480" y="5065775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9061704" y="5010912"/>
            <a:ext cx="34747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9070848" y="5065775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86" name="Rectangle 285"/>
          <p:cNvSpPr/>
          <p:nvPr/>
        </p:nvSpPr>
        <p:spPr>
          <a:xfrm>
            <a:off x="164592" y="5440679"/>
            <a:ext cx="30175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173736" y="5495543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484632" y="5440679"/>
            <a:ext cx="2103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493776" y="5495543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713232" y="5440679"/>
            <a:ext cx="103327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722376" y="5495543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[11 8 4]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764792" y="5440679"/>
            <a:ext cx="185623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773936" y="5495543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0.19/0.93/0.98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3639311" y="5440679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3648455" y="549554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0.3866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4297679" y="5440679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4306823" y="549554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0.3866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4956047" y="5440679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4965191" y="5495543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5458967" y="5440679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5468111" y="549554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6117335" y="5440679"/>
            <a:ext cx="6675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6126479" y="5495543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6803135" y="5440679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6812279" y="5495543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7306055" y="5440679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7315199" y="5495543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808975" y="5440679"/>
            <a:ext cx="5760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7818119" y="5495543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8403336" y="5440679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8412480" y="549554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9061704" y="5440679"/>
            <a:ext cx="3474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9070848" y="5495543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Results Table — Trials 11–20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20 random cases · WeakRule ON vs OFF · seed=42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43000"/>
            <a:ext cx="301751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79" y="1188720"/>
            <a:ext cx="26517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143000"/>
            <a:ext cx="210312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7373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143000"/>
            <a:ext cx="1033271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188720"/>
            <a:ext cx="9966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64792" y="1143000"/>
            <a:ext cx="1856231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83080" y="1188720"/>
            <a:ext cx="181965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d1 (s)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39311" y="1143000"/>
            <a:ext cx="640080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599" y="1188720"/>
            <a:ext cx="60350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143000"/>
            <a:ext cx="640080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5967" y="1188720"/>
            <a:ext cx="60350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56047" y="1143000"/>
            <a:ext cx="484632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74335" y="1188720"/>
            <a:ext cx="4480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58967" y="1143000"/>
            <a:ext cx="640080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77255" y="1188720"/>
            <a:ext cx="60350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17335" y="1143000"/>
            <a:ext cx="667512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35623" y="1188720"/>
            <a:ext cx="63093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03135" y="1143000"/>
            <a:ext cx="484632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21423" y="1188720"/>
            <a:ext cx="4480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6055" y="1143000"/>
            <a:ext cx="484632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24343" y="1188720"/>
            <a:ext cx="4480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08975" y="1143000"/>
            <a:ext cx="576072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27263" y="1188720"/>
            <a:ext cx="539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t_ON(s)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03336" y="1143000"/>
            <a:ext cx="640080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21624" y="1188720"/>
            <a:ext cx="60350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t_OFF(s)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61704" y="1143000"/>
            <a:ext cx="347472" cy="39319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79992" y="1188720"/>
            <a:ext cx="3108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1572768"/>
            <a:ext cx="30175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73736" y="1627632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" y="1572768"/>
            <a:ext cx="21031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3776" y="1627632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1572768"/>
            <a:ext cx="103327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2376" y="1627632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[8 11 6 2 9]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64792" y="1572768"/>
            <a:ext cx="185623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773936" y="1627632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2.28/1.68/2.31/1.48/1.57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39311" y="1572768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48455" y="162763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1.2397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79" y="1572768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06823" y="162763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1.2397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56047" y="1572768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65191" y="162763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8967" y="1572768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68111" y="162763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17335" y="1572768"/>
            <a:ext cx="66751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26479" y="1627632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1183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03135" y="1572768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12279" y="162763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06055" y="1572768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15199" y="162763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258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08975" y="1572768"/>
            <a:ext cx="57607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818119" y="1627632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03336" y="1572768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12480" y="162763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4.82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61704" y="1572768"/>
            <a:ext cx="34747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70848" y="1627632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64592" y="2002536"/>
            <a:ext cx="30175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73736" y="2057400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4632" y="2002536"/>
            <a:ext cx="2103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93776" y="2057400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3232" y="2002536"/>
            <a:ext cx="103327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22376" y="2057400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 2 1 8]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64792" y="2002536"/>
            <a:ext cx="185623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773936" y="2057400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0.94/1.53/2.72/0.75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39311" y="2002536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648455" y="205740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0.2085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79" y="2002536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306823" y="205740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0.2085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56047" y="2002536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65191" y="2057400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58967" y="2002536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68111" y="205740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17335" y="2002536"/>
            <a:ext cx="6675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126479" y="2057400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03135" y="2002536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812279" y="2057400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306055" y="2002536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315199" y="2057400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808975" y="2002536"/>
            <a:ext cx="5760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818119" y="2057400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03336" y="2002536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412480" y="205740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61704" y="2002536"/>
            <a:ext cx="3474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070848" y="2057400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64592" y="2432304"/>
            <a:ext cx="301751" cy="393192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73736" y="2487168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4632" y="2432304"/>
            <a:ext cx="210312" cy="393192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93776" y="2487168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13232" y="2432304"/>
            <a:ext cx="1033271" cy="393192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22376" y="2487168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[10 3 1 4]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64792" y="2432304"/>
            <a:ext cx="1856231" cy="393192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773936" y="2487168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0.48/2.79/2.42/1.90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39311" y="2432304"/>
            <a:ext cx="640080" cy="393192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648455" y="2487168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1.5743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297679" y="2432304"/>
            <a:ext cx="640080" cy="393192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306823" y="2487168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1.7302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56047" y="2432304"/>
            <a:ext cx="484632" cy="393192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965191" y="2487168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NO★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58967" y="2432304"/>
            <a:ext cx="640080" cy="393192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68111" y="2487168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17335" y="2432304"/>
            <a:ext cx="667512" cy="393192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126479" y="2487168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248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03135" y="2432304"/>
            <a:ext cx="484632" cy="393192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812279" y="2487168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06055" y="2432304"/>
            <a:ext cx="484632" cy="393192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315199" y="2487168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808975" y="2432304"/>
            <a:ext cx="576072" cy="393192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818119" y="2487168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403336" y="2432304"/>
            <a:ext cx="640080" cy="393192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412480" y="2487168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0.44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061704" y="2432304"/>
            <a:ext cx="347472" cy="393192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070848" y="2487168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64592" y="2862072"/>
            <a:ext cx="301751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73736" y="2916936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84632" y="2862072"/>
            <a:ext cx="21031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93776" y="2916936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13232" y="2862072"/>
            <a:ext cx="1033271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22376" y="2916936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[10 3 11 7 10 11]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764792" y="2862072"/>
            <a:ext cx="1856231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773936" y="2916936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0.95/0.33/0.68/1.28/2.45/2.58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39311" y="2862072"/>
            <a:ext cx="640080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648455" y="2916936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2.5661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297679" y="2862072"/>
            <a:ext cx="640080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306823" y="2916936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N/A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56047" y="2862072"/>
            <a:ext cx="48463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4965191" y="2916936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58967" y="2862072"/>
            <a:ext cx="640080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468111" y="2916936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1177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117335" y="2862072"/>
            <a:ext cx="66751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126479" y="2916936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3061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803135" y="2862072"/>
            <a:ext cx="48463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812279" y="2916936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162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306055" y="2862072"/>
            <a:ext cx="48463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315199" y="2916936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808975" y="2862072"/>
            <a:ext cx="57607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7818119" y="2916936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7.10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403336" y="2862072"/>
            <a:ext cx="640080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412480" y="2916936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061704" y="2862072"/>
            <a:ext cx="34747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9070848" y="2916936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64592" y="3291839"/>
            <a:ext cx="30175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73736" y="3346703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84632" y="3291839"/>
            <a:ext cx="21031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493776" y="3346703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13232" y="3291839"/>
            <a:ext cx="103327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22376" y="3346703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[7 6 3]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764792" y="3291839"/>
            <a:ext cx="1856231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773936" y="3346703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0.36/1.01/2.83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39311" y="3291839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648455" y="334670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297679" y="3291839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4306823" y="334670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956047" y="3291839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4965191" y="3346703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458967" y="3291839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468111" y="334670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17335" y="3291839"/>
            <a:ext cx="66751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126479" y="3346703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803135" y="3291839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6812279" y="3346703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306055" y="3291839"/>
            <a:ext cx="48463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315199" y="3346703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808975" y="3291839"/>
            <a:ext cx="57607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7818119" y="3346703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403336" y="3291839"/>
            <a:ext cx="640080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8412480" y="334670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061704" y="3291839"/>
            <a:ext cx="347472" cy="3931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9070848" y="3346703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164592" y="3721608"/>
            <a:ext cx="30175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173736" y="3776472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16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84632" y="3721608"/>
            <a:ext cx="2103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493776" y="3776472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13232" y="3721608"/>
            <a:ext cx="103327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22376" y="3776472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[7 9 5 12]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764792" y="3721608"/>
            <a:ext cx="185623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773936" y="3776472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2.89/0.76/1.49/0.90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639311" y="3721608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648455" y="377647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0.6044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297679" y="3721608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306823" y="377647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0.6044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956047" y="3721608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4965191" y="377647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5458967" y="3721608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5468111" y="377647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16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117335" y="3721608"/>
            <a:ext cx="6675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126479" y="3776472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16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803135" y="3721608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812279" y="377647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306055" y="3721608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7315199" y="377647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808975" y="3721608"/>
            <a:ext cx="5760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7818119" y="3776472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403336" y="3721608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8412480" y="3776472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061704" y="3721608"/>
            <a:ext cx="3474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9070848" y="3776472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164592" y="4151376"/>
            <a:ext cx="301751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173736" y="4206240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17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484632" y="4151376"/>
            <a:ext cx="21031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493776" y="4206240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13232" y="4151376"/>
            <a:ext cx="1033271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722376" y="4206240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 8 7 1]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764792" y="4151376"/>
            <a:ext cx="1856231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1773936" y="4206240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0.84/2.72/0.72/0.43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639311" y="4151376"/>
            <a:ext cx="640080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3648455" y="420624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1.9516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297679" y="4151376"/>
            <a:ext cx="640080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4306823" y="420624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N/A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956047" y="4151376"/>
            <a:ext cx="48463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4965191" y="4206240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5458967" y="4151376"/>
            <a:ext cx="640080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5468111" y="420624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429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117335" y="4151376"/>
            <a:ext cx="66751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6126479" y="4206240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2710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803135" y="4151376"/>
            <a:ext cx="48463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6812279" y="4206240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41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306055" y="4151376"/>
            <a:ext cx="48463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7315199" y="4206240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7808975" y="4151376"/>
            <a:ext cx="57607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7818119" y="4206240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1.17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8403336" y="4151376"/>
            <a:ext cx="640080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8412480" y="4206240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30.05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9061704" y="4151376"/>
            <a:ext cx="34747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9070848" y="4206240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64592" y="4581144"/>
            <a:ext cx="30175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173736" y="4636007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18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484632" y="4581144"/>
            <a:ext cx="2103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493776" y="4636007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13232" y="4581144"/>
            <a:ext cx="103327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722376" y="4636007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[12 3 9 10]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764792" y="4581144"/>
            <a:ext cx="185623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1773936" y="4636007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0.71/2.18/1.10/1.90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3639311" y="4581144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3648455" y="4636007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4297679" y="4581144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306823" y="4636007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4956047" y="4581144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4965191" y="4636007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458967" y="4581144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5468111" y="4636007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11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117335" y="4581144"/>
            <a:ext cx="6675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6126479" y="4636007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11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6803135" y="4581144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6812279" y="4636007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306055" y="4581144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7315199" y="4636007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7808975" y="4581144"/>
            <a:ext cx="5760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7818119" y="4636007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8403336" y="4581144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8412480" y="4636007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9061704" y="4581144"/>
            <a:ext cx="3474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9070848" y="4636007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164592" y="5010912"/>
            <a:ext cx="301751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173736" y="5065775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19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484632" y="5010912"/>
            <a:ext cx="21031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493776" y="5065775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13232" y="5010912"/>
            <a:ext cx="1033271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722376" y="5065775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[7 2 11 4 3]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764792" y="5010912"/>
            <a:ext cx="1856231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1773936" y="5065775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0.12/1.77/2.03/0.05/1.54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639311" y="5010912"/>
            <a:ext cx="640080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3648455" y="5065775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3.2519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4297679" y="5010912"/>
            <a:ext cx="640080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4306823" y="5065775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N/A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956047" y="5010912"/>
            <a:ext cx="48463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4965191" y="5065775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458967" y="5010912"/>
            <a:ext cx="640080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468111" y="5065775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2135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6117335" y="5010912"/>
            <a:ext cx="66751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6126479" y="5065775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4209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803135" y="5010912"/>
            <a:ext cx="48463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6812279" y="5065775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210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7306055" y="5010912"/>
            <a:ext cx="48463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7315199" y="5065775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808975" y="5010912"/>
            <a:ext cx="57607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7818119" y="5065775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15.00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8403336" y="5010912"/>
            <a:ext cx="640080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8412480" y="5065775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9061704" y="5010912"/>
            <a:ext cx="347472" cy="393192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9070848" y="5065775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164592" y="5440679"/>
            <a:ext cx="30175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173736" y="5495543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484632" y="5440679"/>
            <a:ext cx="2103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493776" y="5495543"/>
            <a:ext cx="192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713232" y="5440679"/>
            <a:ext cx="103327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722376" y="5495543"/>
            <a:ext cx="1014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[8 3 9]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764792" y="5440679"/>
            <a:ext cx="1856231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773936" y="5495543"/>
            <a:ext cx="18379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1.16/2.81/0.41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3639311" y="5440679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3648455" y="549554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0.0378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4297679" y="5440679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4306823" y="549554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0.0378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4956047" y="5440679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4965191" y="5495543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5458967" y="5440679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5468111" y="549554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6117335" y="5440679"/>
            <a:ext cx="66751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6126479" y="5495543"/>
            <a:ext cx="649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6803135" y="5440679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6812279" y="5495543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7306055" y="5440679"/>
            <a:ext cx="48463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7315199" y="5495543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808975" y="5440679"/>
            <a:ext cx="5760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7818119" y="5495543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8403336" y="5440679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8412480" y="5495543"/>
            <a:ext cx="621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9061704" y="5440679"/>
            <a:ext cx="34747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9070848" y="5495543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Summary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20 trials, N_sys ∈ {3–6}, routes ∈ {1–12}, d1 ∈ U[0,3 s]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3291840" cy="155448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15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Cost identical
(ON = OFF)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3291840" cy="1554480"/>
          </a:xfrm>
          <a:prstGeom prst="rect">
            <a:avLst/>
          </a:prstGeom>
          <a:solidFill>
            <a:srgbClr val="D3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280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1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Cost differs
(Trial 13 — ON cheaper)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188720"/>
            <a:ext cx="3291840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59" y="1280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4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011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N/A — OFF timed out
(ON completed)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D37A00"/>
                </a:solidFill>
              </a:rPr>
              <a:t>Key observation: WeakRule ON is NEVER worse than OFF on cases where both 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74720"/>
            <a:ext cx="21031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73152" cy="45720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49300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</a:rPr>
              <a:t>Avg time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307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44"/>
                </a:solidFill>
              </a:rPr>
              <a:t>0.54 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3474720"/>
            <a:ext cx="21031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51760" y="3474720"/>
            <a:ext cx="7315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88920" y="349300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</a:rPr>
              <a:t>Avg time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7307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8.47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3474720"/>
            <a:ext cx="21031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37760" y="3474720"/>
            <a:ext cx="73152" cy="45720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74920" y="349300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</a:rPr>
              <a:t>Speedup (avg)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37307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BB0"/>
                </a:solidFill>
              </a:rPr>
              <a:t>~16×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474720"/>
            <a:ext cx="21031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23760" y="3474720"/>
            <a:ext cx="73152" cy="45720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60920" y="349300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</a:rPr>
              <a:t>Max nodes 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7307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44"/>
                </a:solidFill>
              </a:rPr>
              <a:t>2135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0" y="3474720"/>
            <a:ext cx="21031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509760" y="3474720"/>
            <a:ext cx="7315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46920" y="349300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</a:rPr>
              <a:t>Max nodes 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7307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5232+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1605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Small cases (N=3): ON and OFF nearly identical in time and nodes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5902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N≥5 cases: OFF search space explodes — Trials 3,5,14,17,19 all timeout at 30 s while ON completes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02005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WeakRule ON prunes the search space dramatically without sacrificing optimality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44982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Trial 13 is the only cost difference — and ON finds the BETTER solution (see Case Study slides)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Case Study: Trial 13  —  Why Costs Differ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routes=[10 3 1 4]  ·  d1=[0.48, 2.79, 2.42, 1.90] s  ·  N=4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03520" cy="50292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WeakRule ON   g = 1.5808  ★ OPTIMAL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43000"/>
            <a:ext cx="539496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17043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WeakRule OFF   g = 1.7208  ★ OPTIMAL (for OFF)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73152" cy="347472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8470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M2 order: N4 → N1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7315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8470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M2 order: N1 → N4  (order reversed!)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73152" cy="347472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304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N4 schedule compact (no gap)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86000"/>
            <a:ext cx="7315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304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N4 has early partial block then gap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43200"/>
            <a:ext cx="73152" cy="347472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7614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N3 resets sub1 to finish exactly at tw1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743200"/>
            <a:ext cx="7315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27614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At tw: N2 requests green, V_temp(2,1)=1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00400"/>
            <a:ext cx="73152" cy="347472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2186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N3 immediately starts sub2 (red) at tw1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200400"/>
            <a:ext cx="7315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2186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x locked by V_temp → green priority forced to N2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57600"/>
            <a:ext cx="73152" cy="347472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675887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x co-decides with V_temp → optimal timing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657600"/>
            <a:ext cx="7315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3675887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N3 must wait → cascade delay → g=1.7208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97680"/>
            <a:ext cx="11430000" cy="73152"/>
          </a:xfrm>
          <a:prstGeom prst="rect">
            <a:avLst/>
          </a:prstGeom>
          <a:solidFill>
            <a:srgbClr val="D3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443484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Root cause:  In OFF mode, x depends solely on V_temp.  At the critical moment tw (when N3 finishes sub1 and wants to start sub2 on red space), N2 is requesting green (V_temp(2,1)=1 &gt; x).  This automatically assigns green priority to N2, locking N3 out. In ON mode, x can co-decide with V_temp, so N3 can precisely time its sub1 reset to finish at tw1 (when N4 releases red), then immediately occupy red — no wasted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Trial 13 — WeakRule ON  |  g = 1.5808  ★ OPTIMAL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7 leaves · 46 nodes · 0.30 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5394960"/>
          </a:xfrm>
          <a:prstGeom prst="rect">
            <a:avLst/>
          </a:prstGeom>
          <a:solidFill>
            <a:srgbClr val="F0F3F6"/>
          </a:solidFill>
          <a:ln w="19050">
            <a:solidFill>
              <a:srgbClr val="556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3611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B82"/>
                </a:solidFill>
              </a:rPr>
              <a:t>[ Paste screenshot: Figure 1 — WeakRule ON Path Explorer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37A00"/>
                </a:solidFill>
              </a:rPr>
              <a:t>N3 finishes sub1 green precisely at tw1 (N4 releases red) → immediately starts sub2 red · M2: N4→N1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8CB88C-D180-D93B-D40B-9E5D669C3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7" y="1051560"/>
            <a:ext cx="11072813" cy="5429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Trial 13 — WeakRule OFF  |  g = 1.7208  ★ OPTIMAL (for OFF)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50 leaves · 248 nodes · 0.25 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5394960"/>
          </a:xfrm>
          <a:prstGeom prst="rect">
            <a:avLst/>
          </a:prstGeom>
          <a:solidFill>
            <a:srgbClr val="F0F3F6"/>
          </a:solidFill>
          <a:ln w="19050">
            <a:solidFill>
              <a:srgbClr val="556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3611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B82"/>
                </a:solidFill>
              </a:rPr>
              <a:t>[ Paste screenshot: Figure 2 — WeakRule OFF Path 1 (optimal)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37A00"/>
                </a:solidFill>
              </a:rPr>
              <a:t>OFF chooses M2: N1→N4 to avoid the V_temp conflict — different ordering, but still suboptimal vs 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32E1C3-7961-DF4B-A15D-CAECE145E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2" y="1097280"/>
            <a:ext cx="11072813" cy="5429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Trial 13 — WeakRule OFF  |  Paths 12 &amp; 13  (g = 3.1516)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Same structure as ON optimal — but structurally blocked from achieving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577840" cy="2560320"/>
          </a:xfrm>
          <a:prstGeom prst="rect">
            <a:avLst/>
          </a:prstGeom>
          <a:solidFill>
            <a:srgbClr val="F0F3F6"/>
          </a:solidFill>
          <a:ln w="19050">
            <a:solidFill>
              <a:srgbClr val="556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2194559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B82"/>
                </a:solidFill>
              </a:rPr>
              <a:t>[ Paste screenshot: OFF Path 12 — N3 gives up green, waits for next sig_m 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5577840" cy="2560320"/>
          </a:xfrm>
          <a:prstGeom prst="rect">
            <a:avLst/>
          </a:prstGeom>
          <a:solidFill>
            <a:srgbClr val="F0F3F6"/>
          </a:solidFill>
          <a:ln w="19050">
            <a:solidFill>
              <a:srgbClr val="556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194559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B82"/>
                </a:solidFill>
              </a:rPr>
              <a:t>[ Paste screenshot: OFF Path 13 — N3 competes green back after N2 occupies tw→tw1 ]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947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37A00"/>
                </a:solidFill>
              </a:rPr>
              <a:t>Both paths attempt the same M2 order as ON optimal (N4→N1) but V_temp(2,1)=1 &gt; x forces green to N2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51960"/>
            <a:ext cx="1371600" cy="41148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4306824"/>
            <a:ext cx="1335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Path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306824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N3 yields green immediately at tw · waits until next sig_m · delay locked in · g=3.15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00600"/>
            <a:ext cx="1371600" cy="41148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4855464"/>
            <a:ext cx="1335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Path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855464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N3 holds green · N2 forcibly inserts between tw and tw1 · N3 reclaims after · same delay · g=3.15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49240"/>
            <a:ext cx="1371600" cy="411480"/>
          </a:xfrm>
          <a:prstGeom prst="rect">
            <a:avLst/>
          </a:prstGeom>
          <a:solidFill>
            <a:srgbClr val="D3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5404104"/>
            <a:ext cx="1335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5404104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No matter how the tree branches, the V_temp constraint makes g≈3.15 a hard lower bound for this sub-tree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897880"/>
            <a:ext cx="1371600" cy="41148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5952744"/>
            <a:ext cx="1335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OFF optimal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5952744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Escapes by switching to N1→N4 on M2, trading conflict avoidance for ordering — but still g=1.72 &gt; 1.58 (ON)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CDBCBF3-4B95-2B11-9C1A-1EA111752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83" y="1109853"/>
            <a:ext cx="5167313" cy="25336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3096FDE-4B2E-D3F6-C6E3-10FA2E905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65098"/>
            <a:ext cx="5167313" cy="2533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Root Cause: x Decision Rule in OFF vs ON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Why ON can find better solutions that OFF structurally cannot 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WeakRule OFF  (original)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x is determined by V_temp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2257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At tw:  V_temp(n2, green)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</a:rPr>
              <a:t>→  x &lt; V_temp(n2,1)  always 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8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</a:rPr>
              <a:t>→  green priority automatically → N2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03904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</a:rPr>
              <a:t>→  N3 cannot start sub2 at optimal moment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</a:rPr>
              <a:t>→  reset timing is constrained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9145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</a:rPr>
              <a:t>→  gap/delay in N3 schedule is unavoidable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8523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</a:rPr>
              <a:t>→  g_min for this branch ≈ 3.15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88720"/>
            <a:ext cx="5394960" cy="45720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20700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WeakRule ON  (new method)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8288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x co-decides alongside V_temp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2257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At tw:  resetting rule allows x to be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1635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        such that sub1 ends exactly at tw1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1012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8A44"/>
                </a:solidFill>
              </a:rPr>
              <a:t>→  N3 finishes green sub1 at tw1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80390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8A44"/>
                </a:solidFill>
              </a:rPr>
              <a:t>→  N4 releases red at tw1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976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8A44"/>
                </a:solidFill>
              </a:rPr>
              <a:t>→  N3 immediately occupies red at tw1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79145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8A44"/>
                </a:solidFill>
              </a:rPr>
              <a:t>→  no gap, no extra delay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28523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8A44"/>
                </a:solidFill>
              </a:rPr>
              <a:t>→  g = 1.58  (global optimal)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188720"/>
            <a:ext cx="73152" cy="5577840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77840" y="3657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WeakRule ON — optimality verification across 20 random trials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91440" cy="82296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44"/>
                </a:solidFill>
              </a:rPr>
              <a:t>Optimality preserved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In all 15 trials where both ON and OFF completed without timeout, cost is identical. WeakRule ON never produces a suboptimal 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91440" cy="822960"/>
          </a:xfrm>
          <a:prstGeom prst="rect">
            <a:avLst/>
          </a:prstGeom>
          <a:solidFill>
            <a:srgbClr val="D3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37A00"/>
                </a:solidFill>
              </a:rPr>
              <a:t>Trial 13 — ON is strictly better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243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ON g=1.5808 &lt; OFF g=1.7208. This is not a bug: OFF's V_temp constraint structurally prevents it from reaching the optimal solution that ON finds.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91839"/>
            <a:ext cx="9144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2918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OFF timeout failures (4/20)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75887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Trials 3,5,14,17,19: OFF hits the 30s timeout with no complete path. ON completes all 4 cases efficiently. This confirms the exponential search-space reduction of WeakRule 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43400"/>
            <a:ext cx="91440" cy="82296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BB0"/>
                </a:solidFill>
              </a:rPr>
              <a:t>Efficiency gain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27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Average time: ON=0.54 s vs OFF=8.47 s (~16× faster). Node count similarly reduced. Advantage grows sharply with N_sys ≥ 5.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94959"/>
            <a:ext cx="91440" cy="822960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39495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56B82"/>
                </a:solidFill>
              </a:rPr>
              <a:t>Mechanism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79007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The x co-decision capability in ON allows precise reset timing aligned to resource release events (tw1), eliminating idle gaps that are unavoidable under OFF's V_temp-only rule.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37A00"/>
                </a:solidFill>
              </a:rPr>
              <a:t>WeakRule ON is both more efficient and at least as optimal as WeakRule OFF — a strict 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6BB0"/>
                </a:solidFill>
              </a:rPr>
              <a:t>Simulation Test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3861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556B82"/>
                </a:solidFill>
              </a:rPr>
              <a:t>50 random trials  ·  </a:t>
            </a:r>
            <a:r>
              <a:rPr sz="1600" b="0" dirty="0" err="1">
                <a:solidFill>
                  <a:srgbClr val="556B82"/>
                </a:solidFill>
              </a:rPr>
              <a:t>N_sys</a:t>
            </a:r>
            <a:r>
              <a:rPr sz="1600" b="0" dirty="0">
                <a:solidFill>
                  <a:srgbClr val="556B82"/>
                </a:solidFill>
              </a:rPr>
              <a:t> ∈ {3–6}  ·  routes ∈ {1–12}  ·  d1 ∈ U[0,3 s]  ·  seed=123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Simulation Test 2 — Trials 1–13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50 random cases · WeakRule ON vs OFF · seed=123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56031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" y="1188720"/>
            <a:ext cx="219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21031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188720"/>
            <a:ext cx="173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143000"/>
            <a:ext cx="1060704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188720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10512" y="1143000"/>
            <a:ext cx="1856231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1188720"/>
            <a:ext cx="18196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d1 (s)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1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19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399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5192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79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58968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77255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1143000"/>
            <a:ext cx="649224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17336" y="1188720"/>
            <a:ext cx="61264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84848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0336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78624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2" y="1143000"/>
            <a:ext cx="56692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0" y="1188720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t_ON(s)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9328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57616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t_OFF(s)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79408" y="1143000"/>
            <a:ext cx="402336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97696" y="1188720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1545336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7744" y="1600200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545336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064" y="1600200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1545336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0664" y="16002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[4 3 7 9 6]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10512" y="1545336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19656" y="1600200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2.94/2.05/1.44/1.18/1.03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85031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94175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0.5190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5112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34255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0.5190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65192" y="154533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74336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8968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68112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9048" y="1545336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08192" y="1600200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154533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60336" y="154533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69480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54112" y="1545336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63256" y="160020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0.27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39328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48472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79408" y="1545336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88552" y="160020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28600" y="1947672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37744" y="2002536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1947672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12064" y="2002536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1947672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2002536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[6 1 5 9 3]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10512" y="1947672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19656" y="2002536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0.53/1.59/1.60/1.90/2.55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85031" y="1947672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694175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1.3554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25112" y="1947672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334255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1.3554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65192" y="1947672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74336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58968" y="1947672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68112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99048" y="1947672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108192" y="2002536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66560" y="1947672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775704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60336" y="1947672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69480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54112" y="1947672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63256" y="200253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39328" y="1947672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48472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79408" y="1947672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988552" y="200253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28600" y="2350008"/>
            <a:ext cx="256031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37744" y="2404872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" y="2350008"/>
            <a:ext cx="210312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12064" y="2404872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" y="2350008"/>
            <a:ext cx="1060704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0664" y="2404872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[8 9 4 5 3]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10512" y="2350008"/>
            <a:ext cx="1856231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819656" y="2404872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0.88/1.89/0.28/1.30/1.29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85031" y="2350008"/>
            <a:ext cx="621792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694175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2.7792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25112" y="2350008"/>
            <a:ext cx="621792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334255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2.9938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65192" y="2350008"/>
            <a:ext cx="475488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974336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NO★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58968" y="2350008"/>
            <a:ext cx="621792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68112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99048" y="2350008"/>
            <a:ext cx="649224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108192" y="2404872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279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766560" y="2350008"/>
            <a:ext cx="475488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775704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260336" y="2350008"/>
            <a:ext cx="475488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269480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754112" y="2350008"/>
            <a:ext cx="566928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763256" y="240487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339328" y="2350008"/>
            <a:ext cx="621792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348472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0.17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979408" y="2350008"/>
            <a:ext cx="402336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988552" y="240487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28600" y="2752344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37744" y="2807208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2920" y="2752344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12064" y="2807208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31520" y="2752344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40664" y="2807208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[6 4 6 11]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10512" y="2752344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819656" y="2807208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2.83/1.51/1.87/0.35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85031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694175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0.6629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325112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334255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0.6629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65192" y="2752344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4974336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58968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468112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24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99048" y="2752344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108192" y="2807208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48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766560" y="2752344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775704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260336" y="2752344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69480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754112" y="2752344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7763256" y="280720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339328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348472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979408" y="2752344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8988552" y="280720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228600" y="3154680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237744" y="3209544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02920" y="3154680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512064" y="3209544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31520" y="3154680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40664" y="320954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[5 11 4 6]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810512" y="3154680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819656" y="320954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2.96/1.56/1.84/0.36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85031" y="3154680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694175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325112" y="3154680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4334255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965192" y="3154680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4974336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458968" y="3154680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468112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099048" y="3154680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108192" y="3209544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766560" y="3154680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6775704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3154680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269480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754112" y="3154680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7763256" y="320954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339328" y="3154680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8348472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979408" y="3154680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8988552" y="320954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228600" y="3557016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237744" y="3611880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02920" y="3557016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512064" y="3611880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31520" y="3557016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40664" y="361188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[8 7 5 4 6 9]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810512" y="3557016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819656" y="3611880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2.63/1.53/2.01/1.76/1.87/2.02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685031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694175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325112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334255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965192" y="355701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4974336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5458968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5468112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4182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099048" y="3557016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108192" y="3611880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6357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766560" y="355701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775704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260336" y="355701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7269480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754112" y="3557016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7763256" y="361188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339328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8348472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979408" y="3557016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988552" y="361188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228600" y="3959352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237744" y="4014215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02920" y="3959352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512064" y="4014215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31520" y="3959352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740664" y="4014215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 10 3 3 7 2]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810512" y="3959352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1819656" y="4014215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2.66/1.88/2.17/0.05/1.78/1.67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685031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3694175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4.3281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25112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4334255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965192" y="395935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4974336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5458968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5468112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5253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099048" y="3959352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6108192" y="4014215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4721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766560" y="395935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6775704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322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260336" y="395935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7269480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7754112" y="3959352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7763256" y="4014215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26.41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8339328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8348472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8979408" y="3959352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8988552" y="4014215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228600" y="4361688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237744" y="4416551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02920" y="4361688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512064" y="4416551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31520" y="4361688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740664" y="4416551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[2 9 4]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810512" y="4361688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1819656" y="4416551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2.08/1.66/1.17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3685031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3694175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4325112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334255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4965192" y="4361688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4974336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458968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5468112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099048" y="4361688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6108192" y="4416551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6766560" y="4361688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6775704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260336" y="4361688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7269480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7754112" y="4361688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7763256" y="4416551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8339328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8348472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8979408" y="4361688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8988552" y="4416551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228600" y="4764024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237744" y="4818888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502920" y="4764024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512064" y="4818888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31520" y="4764024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740664" y="4818888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[11 5 1 4 5 9]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810512" y="4764024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1819656" y="4818888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2.99/1.07/2.29/1.78/2.08/0.45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685031" y="476402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3694175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3.0768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4325112" y="476402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4334255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965192" y="4764024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4974336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458968" y="476402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468112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407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6099048" y="4764024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6108192" y="4818888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5096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766560" y="4764024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6775704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49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7260336" y="4764024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7269480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754112" y="4764024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7763256" y="481888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0.40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8339328" y="476402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8348472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30.02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979408" y="4764024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8988552" y="481888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228600" y="5166360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237744" y="5221224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502920" y="5166360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512064" y="5221224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731520" y="5166360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740664" y="522122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[3 5 7 8]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810512" y="5166360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819656" y="522122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0.32/0.39/0.97/1.98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3685031" y="5166360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3694175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1.1253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4325112" y="5166360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4334255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1.1253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4965192" y="5166360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4974336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5458968" y="5166360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5468112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44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6099048" y="5166360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6108192" y="5221224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73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6766560" y="5166360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6775704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7260336" y="5166360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7269480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16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754112" y="5166360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7763256" y="522122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0.06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8339328" y="5166360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8348472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0.06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979408" y="5166360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8988552" y="522122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14" name="Rectangle 313"/>
          <p:cNvSpPr/>
          <p:nvPr/>
        </p:nvSpPr>
        <p:spPr>
          <a:xfrm>
            <a:off x="228600" y="5568696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237744" y="5623559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11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502920" y="5568696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512064" y="5623559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31520" y="5568696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740664" y="5623559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[7 11 5 4 5 3]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810512" y="5568696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1819656" y="5623559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2.49/1.02/1.66/1.74/1.56/0.01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3685031" y="556869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3694175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2.8541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325112" y="556869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4334255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965192" y="556869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4974336" y="5623559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5458968" y="556869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5468112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385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6099048" y="5568696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TextBox 330"/>
          <p:cNvSpPr txBox="1"/>
          <p:nvPr/>
        </p:nvSpPr>
        <p:spPr>
          <a:xfrm>
            <a:off x="6108192" y="5623559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4188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6766560" y="556869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TextBox 332"/>
          <p:cNvSpPr txBox="1"/>
          <p:nvPr/>
        </p:nvSpPr>
        <p:spPr>
          <a:xfrm>
            <a:off x="6775704" y="5623559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44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7260336" y="556869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TextBox 334"/>
          <p:cNvSpPr txBox="1"/>
          <p:nvPr/>
        </p:nvSpPr>
        <p:spPr>
          <a:xfrm>
            <a:off x="7269480" y="5623559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7754112" y="5568696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TextBox 336"/>
          <p:cNvSpPr txBox="1"/>
          <p:nvPr/>
        </p:nvSpPr>
        <p:spPr>
          <a:xfrm>
            <a:off x="7763256" y="5623559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0.44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8339328" y="556869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8348472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8979408" y="5568696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8988552" y="5623559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228600" y="5971032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TextBox 342"/>
          <p:cNvSpPr txBox="1"/>
          <p:nvPr/>
        </p:nvSpPr>
        <p:spPr>
          <a:xfrm>
            <a:off x="237744" y="6025896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12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502920" y="5971032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512064" y="6025896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731520" y="5971032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740664" y="6025896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[11 3 4 7 11 12]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1810512" y="5971032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TextBox 348"/>
          <p:cNvSpPr txBox="1"/>
          <p:nvPr/>
        </p:nvSpPr>
        <p:spPr>
          <a:xfrm>
            <a:off x="1819656" y="6025896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0.77/1.69/2.42/1.18/2.19/0.48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3685031" y="597103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350"/>
          <p:cNvSpPr txBox="1"/>
          <p:nvPr/>
        </p:nvSpPr>
        <p:spPr>
          <a:xfrm>
            <a:off x="3694175" y="602589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3.0143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4325112" y="597103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352"/>
          <p:cNvSpPr txBox="1"/>
          <p:nvPr/>
        </p:nvSpPr>
        <p:spPr>
          <a:xfrm>
            <a:off x="4334255" y="602589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4965192" y="597103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354"/>
          <p:cNvSpPr txBox="1"/>
          <p:nvPr/>
        </p:nvSpPr>
        <p:spPr>
          <a:xfrm>
            <a:off x="4974336" y="602589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5458968" y="597103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TextBox 356"/>
          <p:cNvSpPr txBox="1"/>
          <p:nvPr/>
        </p:nvSpPr>
        <p:spPr>
          <a:xfrm>
            <a:off x="5468112" y="602589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1096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6099048" y="5971032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TextBox 358"/>
          <p:cNvSpPr txBox="1"/>
          <p:nvPr/>
        </p:nvSpPr>
        <p:spPr>
          <a:xfrm>
            <a:off x="6108192" y="6025896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4967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6766560" y="597103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TextBox 360"/>
          <p:cNvSpPr txBox="1"/>
          <p:nvPr/>
        </p:nvSpPr>
        <p:spPr>
          <a:xfrm>
            <a:off x="6775704" y="602589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197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7260336" y="597103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TextBox 362"/>
          <p:cNvSpPr txBox="1"/>
          <p:nvPr/>
        </p:nvSpPr>
        <p:spPr>
          <a:xfrm>
            <a:off x="7269480" y="602589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7754112" y="5971032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TextBox 364"/>
          <p:cNvSpPr txBox="1"/>
          <p:nvPr/>
        </p:nvSpPr>
        <p:spPr>
          <a:xfrm>
            <a:off x="7763256" y="602589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3.03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8339328" y="597103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TextBox 366"/>
          <p:cNvSpPr txBox="1"/>
          <p:nvPr/>
        </p:nvSpPr>
        <p:spPr>
          <a:xfrm>
            <a:off x="8348472" y="602589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8979408" y="5971032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TextBox 368"/>
          <p:cNvSpPr txBox="1"/>
          <p:nvPr/>
        </p:nvSpPr>
        <p:spPr>
          <a:xfrm>
            <a:off x="8988552" y="602589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370" name="Rectangle 369"/>
          <p:cNvSpPr/>
          <p:nvPr/>
        </p:nvSpPr>
        <p:spPr>
          <a:xfrm>
            <a:off x="228600" y="6373368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TextBox 370"/>
          <p:cNvSpPr txBox="1"/>
          <p:nvPr/>
        </p:nvSpPr>
        <p:spPr>
          <a:xfrm>
            <a:off x="237744" y="6428231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502920" y="6373368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TextBox 372"/>
          <p:cNvSpPr txBox="1"/>
          <p:nvPr/>
        </p:nvSpPr>
        <p:spPr>
          <a:xfrm>
            <a:off x="512064" y="6428231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731520" y="6373368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TextBox 374"/>
          <p:cNvSpPr txBox="1"/>
          <p:nvPr/>
        </p:nvSpPr>
        <p:spPr>
          <a:xfrm>
            <a:off x="740664" y="6428231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[11 12 1 6 3]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1810512" y="6373368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TextBox 376"/>
          <p:cNvSpPr txBox="1"/>
          <p:nvPr/>
        </p:nvSpPr>
        <p:spPr>
          <a:xfrm>
            <a:off x="1819656" y="6428231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1.35/1.64/0.28/0.89/2.78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3685031" y="637336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TextBox 378"/>
          <p:cNvSpPr txBox="1"/>
          <p:nvPr/>
        </p:nvSpPr>
        <p:spPr>
          <a:xfrm>
            <a:off x="3694175" y="642823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1.2162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4325112" y="637336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TextBox 380"/>
          <p:cNvSpPr txBox="1"/>
          <p:nvPr/>
        </p:nvSpPr>
        <p:spPr>
          <a:xfrm>
            <a:off x="4334255" y="642823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1.2162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4965192" y="6373368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TextBox 382"/>
          <p:cNvSpPr txBox="1"/>
          <p:nvPr/>
        </p:nvSpPr>
        <p:spPr>
          <a:xfrm>
            <a:off x="4974336" y="642823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5458968" y="637336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TextBox 384"/>
          <p:cNvSpPr txBox="1"/>
          <p:nvPr/>
        </p:nvSpPr>
        <p:spPr>
          <a:xfrm>
            <a:off x="5468112" y="642823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28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6099048" y="6373368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TextBox 386"/>
          <p:cNvSpPr txBox="1"/>
          <p:nvPr/>
        </p:nvSpPr>
        <p:spPr>
          <a:xfrm>
            <a:off x="6108192" y="6428231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134</a:t>
            </a:r>
          </a:p>
        </p:txBody>
      </p:sp>
      <p:sp>
        <p:nvSpPr>
          <p:cNvPr id="388" name="Rectangle 387"/>
          <p:cNvSpPr/>
          <p:nvPr/>
        </p:nvSpPr>
        <p:spPr>
          <a:xfrm>
            <a:off x="6766560" y="6373368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TextBox 388"/>
          <p:cNvSpPr txBox="1"/>
          <p:nvPr/>
        </p:nvSpPr>
        <p:spPr>
          <a:xfrm>
            <a:off x="6775704" y="642823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7260336" y="6373368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TextBox 390"/>
          <p:cNvSpPr txBox="1"/>
          <p:nvPr/>
        </p:nvSpPr>
        <p:spPr>
          <a:xfrm>
            <a:off x="7269480" y="642823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31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7754112" y="6373368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TextBox 392"/>
          <p:cNvSpPr txBox="1"/>
          <p:nvPr/>
        </p:nvSpPr>
        <p:spPr>
          <a:xfrm>
            <a:off x="7763256" y="6428231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0.02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8339328" y="637336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TextBox 394"/>
          <p:cNvSpPr txBox="1"/>
          <p:nvPr/>
        </p:nvSpPr>
        <p:spPr>
          <a:xfrm>
            <a:off x="8348472" y="642823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0.05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8979408" y="6373368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TextBox 396"/>
          <p:cNvSpPr txBox="1"/>
          <p:nvPr/>
        </p:nvSpPr>
        <p:spPr>
          <a:xfrm>
            <a:off x="8988552" y="6428231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Simulation Test 2 — Trials 14–26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50 random cases · WeakRule ON vs OFF · seed=123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56031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" y="1188720"/>
            <a:ext cx="219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21031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188720"/>
            <a:ext cx="173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143000"/>
            <a:ext cx="1060704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188720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10512" y="1143000"/>
            <a:ext cx="1856231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1188720"/>
            <a:ext cx="18196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d1 (s)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1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19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399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5192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79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58968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77255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1143000"/>
            <a:ext cx="649224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17336" y="1188720"/>
            <a:ext cx="61264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84848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0336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78624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2" y="1143000"/>
            <a:ext cx="56692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0" y="1188720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t_ON(s)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9328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57616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t_OFF(s)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79408" y="1143000"/>
            <a:ext cx="402336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97696" y="1188720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1545336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7744" y="1600200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545336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064" y="1600200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1545336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0664" y="16002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[6 10 9 1 9]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10512" y="1545336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19656" y="1600200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2.52/0.50/2.34/0.86/0.92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85031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94175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1.0343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5112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34255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1.0343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65192" y="154533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74336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8968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68112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9048" y="1545336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08192" y="1600200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154533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60336" y="154533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69480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54112" y="1545336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63256" y="160020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39328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48472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79408" y="1545336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88552" y="160020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28600" y="1947672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37744" y="2002536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1947672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12064" y="2002536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1947672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2002536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[2 8 11 9 6]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10512" y="1947672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19656" y="2002536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1.31/2.30/1.70/0.25/1.75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85031" y="1947672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694175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0.2188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25112" y="1947672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334255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0.2188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65192" y="1947672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74336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58968" y="1947672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68112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99048" y="1947672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108192" y="2002536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66560" y="1947672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775704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60336" y="1947672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69480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54112" y="1947672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63256" y="200253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39328" y="1947672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48472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79408" y="1947672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988552" y="200253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28600" y="2350008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37744" y="2404872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" y="2350008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12064" y="2404872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" y="2350008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0664" y="2404872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[5 12 10 7 10 1]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10512" y="2350008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819656" y="2404872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2.58/2.46/2.73/0.39/0.25/0.42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85031" y="235000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694175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2.5894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25112" y="235000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334255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65192" y="2350008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974336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58968" y="235000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68112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1928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99048" y="2350008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108192" y="2404872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6142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766560" y="2350008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775704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224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260336" y="2350008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269480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754112" y="2350008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763256" y="240487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3.05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339328" y="235000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348472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979408" y="2350008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988552" y="240487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28600" y="2752344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37744" y="2807208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17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2920" y="2752344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12064" y="2807208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31520" y="2752344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40664" y="2807208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[6 7 2 3]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10512" y="2752344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819656" y="2807208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2.43/1.40/2.42/0.02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85031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694175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0.4491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325112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334255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0.4491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65192" y="2752344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4974336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58968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468112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99048" y="2752344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108192" y="2807208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766560" y="2752344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775704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260336" y="2752344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69480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754112" y="2752344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7763256" y="280720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339328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348472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979408" y="2752344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8988552" y="280720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228600" y="3154680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237744" y="3209544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18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02920" y="3154680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512064" y="3209544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31520" y="3154680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40664" y="320954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[12 7 3 9 5]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810512" y="3154680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819656" y="320954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2.01/0.09/1.91/0.10/2.23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85031" y="3154680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694175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1.0343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325112" y="3154680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4334255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1.0343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965192" y="3154680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4974336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458968" y="3154680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468112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36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099048" y="3154680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108192" y="3209544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140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766560" y="3154680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6775704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3154680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269480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27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754112" y="3154680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7763256" y="320954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0.04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339328" y="3154680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8348472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979408" y="3154680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8988552" y="320954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228600" y="3557016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237744" y="3611880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19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02920" y="3557016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512064" y="3611880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31520" y="3557016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40664" y="361188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[2 7 1 8]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810512" y="3557016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819656" y="3611880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2.99/2.31/1.72/0.31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685031" y="3557016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694175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0.1985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325112" y="3557016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334255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0.1985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965192" y="3557016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4974336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5458968" y="3557016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5468112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40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099048" y="3557016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108192" y="3611880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46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766560" y="3557016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775704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260336" y="3557016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7269480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754112" y="3557016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7763256" y="361188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0.03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339328" y="3557016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8348472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979408" y="3557016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988552" y="361188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228600" y="3959352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237744" y="4014215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02920" y="3959352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512064" y="4014215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31520" y="3959352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740664" y="4014215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[8 1 10 7 6]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810512" y="3959352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1819656" y="4014215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2.36/1.23/1.44/0.54/0.96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685031" y="3959352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3694175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1.6664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25112" y="3959352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4334255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1.6664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965192" y="3959352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4974336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5458968" y="3959352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5468112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322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099048" y="3959352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6108192" y="4014215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746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766560" y="3959352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6775704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32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260336" y="3959352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7269480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142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7754112" y="3959352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7763256" y="4014215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0.28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8339328" y="3959352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8348472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0.90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8979408" y="3959352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8988552" y="4014215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228600" y="4361688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237744" y="4416551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21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02920" y="4361688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512064" y="4416551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31520" y="4361688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740664" y="4416551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[3 6 12 3 12 12]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810512" y="4361688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1819656" y="4416551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0.27/1.39/1.51/0.94/0.14/0.73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3685031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3694175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0.5268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4325112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334255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0.5268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4965192" y="4361688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4974336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458968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5468112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112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099048" y="4361688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6108192" y="4416551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4295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6766560" y="4361688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6775704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22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260336" y="4361688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7269480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1535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7754112" y="4361688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7763256" y="4416551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0.14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8339328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8348472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26.31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8979408" y="4361688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8988552" y="4416551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228600" y="4764024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237744" y="4818888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22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502920" y="4764024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512064" y="4818888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31520" y="4764024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740664" y="4818888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[3 10 11]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810512" y="4764024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1819656" y="4818888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0.13/0.91/2.94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685031" y="4764024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3694175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4325112" y="4764024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4334255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965192" y="4764024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4974336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458968" y="4764024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468112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6099048" y="4764024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6108192" y="4818888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766560" y="4764024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6775704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7260336" y="4764024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7269480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754112" y="4764024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7763256" y="481888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8339328" y="4764024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8348472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979408" y="4764024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8988552" y="481888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86" name="Rectangle 285"/>
          <p:cNvSpPr/>
          <p:nvPr/>
        </p:nvSpPr>
        <p:spPr>
          <a:xfrm>
            <a:off x="228600" y="5166360"/>
            <a:ext cx="256031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237744" y="5221224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23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502920" y="5166360"/>
            <a:ext cx="210312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512064" y="5221224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731520" y="5166360"/>
            <a:ext cx="1060704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740664" y="522122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[8 1 6 12 5]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810512" y="5166360"/>
            <a:ext cx="1856231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819656" y="522122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0.29/1.39/2.89/1.03/2.40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3685031" y="5166360"/>
            <a:ext cx="621792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3694175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1.7178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4325112" y="5166360"/>
            <a:ext cx="621792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4334255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1.7974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4965192" y="5166360"/>
            <a:ext cx="475488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4974336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NO★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5458968" y="5166360"/>
            <a:ext cx="621792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5468112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43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6099048" y="5166360"/>
            <a:ext cx="649224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6108192" y="5221224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2584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6766560" y="5166360"/>
            <a:ext cx="475488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6775704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7260336" y="5166360"/>
            <a:ext cx="475488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7269480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656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754112" y="5166360"/>
            <a:ext cx="566928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7763256" y="522122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0.02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8339328" y="5166360"/>
            <a:ext cx="621792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8348472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5.92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979408" y="5166360"/>
            <a:ext cx="402336" cy="37490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8988552" y="522122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14" name="Rectangle 313"/>
          <p:cNvSpPr/>
          <p:nvPr/>
        </p:nvSpPr>
        <p:spPr>
          <a:xfrm>
            <a:off x="228600" y="5568696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237744" y="5623559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24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502920" y="5568696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512064" y="5623559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31520" y="5568696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740664" y="5623559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[3 6 9 5 3 12]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810512" y="5568696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1819656" y="5623559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1.95/2.60/0.08/0.80/1.51/0.20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3685031" y="556869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3694175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0.3394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325112" y="556869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4334255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0.3394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965192" y="556869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4974336" y="5623559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5458968" y="556869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5468112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19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6099048" y="5568696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TextBox 330"/>
          <p:cNvSpPr txBox="1"/>
          <p:nvPr/>
        </p:nvSpPr>
        <p:spPr>
          <a:xfrm>
            <a:off x="6108192" y="5623559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27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6766560" y="556869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TextBox 332"/>
          <p:cNvSpPr txBox="1"/>
          <p:nvPr/>
        </p:nvSpPr>
        <p:spPr>
          <a:xfrm>
            <a:off x="6775704" y="5623559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7260336" y="556869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TextBox 334"/>
          <p:cNvSpPr txBox="1"/>
          <p:nvPr/>
        </p:nvSpPr>
        <p:spPr>
          <a:xfrm>
            <a:off x="7269480" y="5623559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7754112" y="5568696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TextBox 336"/>
          <p:cNvSpPr txBox="1"/>
          <p:nvPr/>
        </p:nvSpPr>
        <p:spPr>
          <a:xfrm>
            <a:off x="7763256" y="5623559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8339328" y="556869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8348472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8979408" y="5568696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8988552" y="5623559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42" name="Rectangle 341"/>
          <p:cNvSpPr/>
          <p:nvPr/>
        </p:nvSpPr>
        <p:spPr>
          <a:xfrm>
            <a:off x="228600" y="5971032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TextBox 342"/>
          <p:cNvSpPr txBox="1"/>
          <p:nvPr/>
        </p:nvSpPr>
        <p:spPr>
          <a:xfrm>
            <a:off x="237744" y="6025896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25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502920" y="5971032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512064" y="6025896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731520" y="5971032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740664" y="6025896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[3 5 3 2 3 4]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1810512" y="5971032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TextBox 348"/>
          <p:cNvSpPr txBox="1"/>
          <p:nvPr/>
        </p:nvSpPr>
        <p:spPr>
          <a:xfrm>
            <a:off x="1819656" y="6025896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1.90/0.84/1.09/0.02/1.10/1.60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3685031" y="597103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350"/>
          <p:cNvSpPr txBox="1"/>
          <p:nvPr/>
        </p:nvSpPr>
        <p:spPr>
          <a:xfrm>
            <a:off x="3694175" y="602589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3.9051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4325112" y="597103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352"/>
          <p:cNvSpPr txBox="1"/>
          <p:nvPr/>
        </p:nvSpPr>
        <p:spPr>
          <a:xfrm>
            <a:off x="4334255" y="602589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4965192" y="597103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354"/>
          <p:cNvSpPr txBox="1"/>
          <p:nvPr/>
        </p:nvSpPr>
        <p:spPr>
          <a:xfrm>
            <a:off x="4974336" y="602589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5458968" y="597103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TextBox 356"/>
          <p:cNvSpPr txBox="1"/>
          <p:nvPr/>
        </p:nvSpPr>
        <p:spPr>
          <a:xfrm>
            <a:off x="5468112" y="602589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3990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6099048" y="5971032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TextBox 358"/>
          <p:cNvSpPr txBox="1"/>
          <p:nvPr/>
        </p:nvSpPr>
        <p:spPr>
          <a:xfrm>
            <a:off x="6108192" y="6025896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6579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6766560" y="597103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TextBox 360"/>
          <p:cNvSpPr txBox="1"/>
          <p:nvPr/>
        </p:nvSpPr>
        <p:spPr>
          <a:xfrm>
            <a:off x="6775704" y="602589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691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7260336" y="597103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TextBox 362"/>
          <p:cNvSpPr txBox="1"/>
          <p:nvPr/>
        </p:nvSpPr>
        <p:spPr>
          <a:xfrm>
            <a:off x="7269480" y="602589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7754112" y="5971032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TextBox 364"/>
          <p:cNvSpPr txBox="1"/>
          <p:nvPr/>
        </p:nvSpPr>
        <p:spPr>
          <a:xfrm>
            <a:off x="7763256" y="602589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11.79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8339328" y="597103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TextBox 366"/>
          <p:cNvSpPr txBox="1"/>
          <p:nvPr/>
        </p:nvSpPr>
        <p:spPr>
          <a:xfrm>
            <a:off x="8348472" y="602589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8979408" y="5971032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TextBox 368"/>
          <p:cNvSpPr txBox="1"/>
          <p:nvPr/>
        </p:nvSpPr>
        <p:spPr>
          <a:xfrm>
            <a:off x="8988552" y="602589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370" name="Rectangle 369"/>
          <p:cNvSpPr/>
          <p:nvPr/>
        </p:nvSpPr>
        <p:spPr>
          <a:xfrm>
            <a:off x="228600" y="6373368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TextBox 370"/>
          <p:cNvSpPr txBox="1"/>
          <p:nvPr/>
        </p:nvSpPr>
        <p:spPr>
          <a:xfrm>
            <a:off x="237744" y="6428231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26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502920" y="6373368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TextBox 372"/>
          <p:cNvSpPr txBox="1"/>
          <p:nvPr/>
        </p:nvSpPr>
        <p:spPr>
          <a:xfrm>
            <a:off x="512064" y="6428231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731520" y="6373368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TextBox 374"/>
          <p:cNvSpPr txBox="1"/>
          <p:nvPr/>
        </p:nvSpPr>
        <p:spPr>
          <a:xfrm>
            <a:off x="740664" y="6428231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[8 4 8]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1810512" y="6373368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TextBox 376"/>
          <p:cNvSpPr txBox="1"/>
          <p:nvPr/>
        </p:nvSpPr>
        <p:spPr>
          <a:xfrm>
            <a:off x="1819656" y="6428231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0.08/2.66/0.05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3685031" y="637336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TextBox 378"/>
          <p:cNvSpPr txBox="1"/>
          <p:nvPr/>
        </p:nvSpPr>
        <p:spPr>
          <a:xfrm>
            <a:off x="3694175" y="642823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0.9698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4325112" y="637336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TextBox 380"/>
          <p:cNvSpPr txBox="1"/>
          <p:nvPr/>
        </p:nvSpPr>
        <p:spPr>
          <a:xfrm>
            <a:off x="4334255" y="642823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0.9698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4965192" y="6373368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TextBox 382"/>
          <p:cNvSpPr txBox="1"/>
          <p:nvPr/>
        </p:nvSpPr>
        <p:spPr>
          <a:xfrm>
            <a:off x="4974336" y="642823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5458968" y="637336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TextBox 384"/>
          <p:cNvSpPr txBox="1"/>
          <p:nvPr/>
        </p:nvSpPr>
        <p:spPr>
          <a:xfrm>
            <a:off x="5468112" y="642823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17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6099048" y="6373368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TextBox 386"/>
          <p:cNvSpPr txBox="1"/>
          <p:nvPr/>
        </p:nvSpPr>
        <p:spPr>
          <a:xfrm>
            <a:off x="6108192" y="6428231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17</a:t>
            </a:r>
          </a:p>
        </p:txBody>
      </p:sp>
      <p:sp>
        <p:nvSpPr>
          <p:cNvPr id="388" name="Rectangle 387"/>
          <p:cNvSpPr/>
          <p:nvPr/>
        </p:nvSpPr>
        <p:spPr>
          <a:xfrm>
            <a:off x="6766560" y="6373368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TextBox 388"/>
          <p:cNvSpPr txBox="1"/>
          <p:nvPr/>
        </p:nvSpPr>
        <p:spPr>
          <a:xfrm>
            <a:off x="6775704" y="642823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7260336" y="6373368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TextBox 390"/>
          <p:cNvSpPr txBox="1"/>
          <p:nvPr/>
        </p:nvSpPr>
        <p:spPr>
          <a:xfrm>
            <a:off x="7269480" y="642823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7754112" y="6373368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TextBox 392"/>
          <p:cNvSpPr txBox="1"/>
          <p:nvPr/>
        </p:nvSpPr>
        <p:spPr>
          <a:xfrm>
            <a:off x="7763256" y="6428231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8339328" y="637336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TextBox 394"/>
          <p:cNvSpPr txBox="1"/>
          <p:nvPr/>
        </p:nvSpPr>
        <p:spPr>
          <a:xfrm>
            <a:off x="8348472" y="642823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8979408" y="6373368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TextBox 396"/>
          <p:cNvSpPr txBox="1"/>
          <p:nvPr/>
        </p:nvSpPr>
        <p:spPr>
          <a:xfrm>
            <a:off x="8988552" y="6428231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Simulation Test 2 — Trials 27–39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50 random cases · WeakRule ON vs OFF · seed=123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56031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" y="1188720"/>
            <a:ext cx="219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21031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188720"/>
            <a:ext cx="173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143000"/>
            <a:ext cx="1060704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188720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10512" y="1143000"/>
            <a:ext cx="1856231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1188720"/>
            <a:ext cx="18196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d1 (s)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1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19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399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5192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79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58968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77255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1143000"/>
            <a:ext cx="649224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17336" y="1188720"/>
            <a:ext cx="61264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84848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0336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78624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2" y="1143000"/>
            <a:ext cx="56692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0" y="1188720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t_ON(s)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9328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57616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t_OFF(s)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79408" y="1143000"/>
            <a:ext cx="402336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97696" y="1188720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1545336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7744" y="1600200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545336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064" y="1600200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1545336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0664" y="16002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[10 1 9]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10512" y="1545336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19656" y="1600200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2.91/2.62/2.13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85031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94175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0.4873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5112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34255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0.4873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65192" y="154533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74336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8968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68112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9048" y="1545336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08192" y="1600200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154533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60336" y="154533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69480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54112" y="1545336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63256" y="160020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39328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48472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79408" y="1545336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88552" y="160020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28600" y="1947672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37744" y="2002536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1947672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12064" y="2002536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1947672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2002536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[6 11 5 12 2 12]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10512" y="1947672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19656" y="2002536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2.50/2.54/0.37/1.79/0.05/2.16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85031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694175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1.5560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25112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334255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65192" y="194767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74336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58968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68112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250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99048" y="1947672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108192" y="2002536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5757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66560" y="194767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775704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60336" y="194767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69480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54112" y="1947672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63256" y="200253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39328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48472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79408" y="1947672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988552" y="200253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" y="2350008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37744" y="2404872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" y="2350008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12064" y="2404872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" y="2350008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0664" y="2404872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[2 3 11]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10512" y="2350008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819656" y="2404872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1.09/1.62/1.70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85031" y="235000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694175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0.6427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25112" y="235000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334255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0.6427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65192" y="2350008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974336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58968" y="235000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68112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99048" y="2350008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108192" y="2404872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766560" y="2350008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775704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260336" y="2350008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269480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754112" y="2350008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763256" y="240487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339328" y="235000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348472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979408" y="2350008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988552" y="240487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28600" y="2752344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37744" y="2807208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2920" y="2752344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12064" y="2807208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31520" y="2752344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40664" y="2807208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[7 8 4]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10512" y="2752344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819656" y="2807208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1.26/1.36/2.80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85031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694175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0.6820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325112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334255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0.6820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65192" y="2752344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4974336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58968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468112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99048" y="2752344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108192" y="2807208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23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766560" y="2752344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775704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260336" y="2752344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69480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754112" y="2752344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7763256" y="280720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339328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348472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979408" y="2752344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8988552" y="280720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228600" y="3154680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237744" y="3209544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02920" y="3154680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512064" y="3209544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31520" y="3154680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40664" y="320954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[12 7 7 1 6]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810512" y="3154680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819656" y="320954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2.78/0.60/0.16/1.22/1.12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85031" y="3154680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694175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2.1698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325112" y="3154680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4334255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2.1698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965192" y="3154680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4974336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458968" y="3154680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468112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70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099048" y="3154680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108192" y="3209544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5645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766560" y="3154680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6775704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3154680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269480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1263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754112" y="3154680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7763256" y="320954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0.03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339328" y="3154680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8348472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28.66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979408" y="3154680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8988552" y="320954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228600" y="3557016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237744" y="3611880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32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02920" y="3557016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512064" y="3611880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31520" y="3557016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40664" y="361188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 12 9 11 8 10]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810512" y="3557016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819656" y="3611880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1.01/1.05/1.17/2.26/1.11/0.73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685031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694175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3.3193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325112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334255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965192" y="355701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4974336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5458968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5468112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3190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099048" y="3557016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108192" y="3611880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6908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766560" y="355701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775704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404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260336" y="355701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7269480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754112" y="3557016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7763256" y="361188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7.05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339328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8348472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30.03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979408" y="3557016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988552" y="361188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228600" y="3959352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237744" y="4014215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33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02920" y="3959352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512064" y="4014215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31520" y="3959352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740664" y="4014215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[11 5 8 4 3 5]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810512" y="3959352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1819656" y="4014215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0.98/2.65/2.47/2.13/2.88/1.27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685031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3694175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3.2343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25112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4334255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965192" y="395935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4974336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5458968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5468112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509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099048" y="3959352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6108192" y="4014215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5986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766560" y="395935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6775704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68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260336" y="395935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7269480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7754112" y="3959352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7763256" y="4014215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0.36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8339328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8348472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8979408" y="3959352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8988552" y="4014215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228600" y="4361688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237744" y="4416551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34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02920" y="4361688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512064" y="4416551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31520" y="4361688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740664" y="4416551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[2 4 2]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810512" y="4361688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1819656" y="4416551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0.28/1.81/1.09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3685031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3694175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1.4372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4325112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334255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1.4372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4965192" y="4361688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4974336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458968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5468112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36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099048" y="4361688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6108192" y="4416551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92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6766560" y="4361688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6775704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260336" y="4361688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7269480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19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7754112" y="4361688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7763256" y="4416551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8339328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8348472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0.02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8979408" y="4361688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8988552" y="4416551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228600" y="4764024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237744" y="4818888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35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502920" y="4764024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512064" y="4818888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31520" y="4764024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740664" y="4818888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[3 9 3 4 9]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810512" y="4764024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1819656" y="4818888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1.68/1.00/1.63/2.08/2.74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685031" y="4764024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3694175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0.7352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4325112" y="4764024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4334255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0.7352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965192" y="4764024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4974336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458968" y="4764024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468112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22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6099048" y="4764024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6108192" y="4818888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114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766560" y="4764024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6775704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7260336" y="4764024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7269480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24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754112" y="4764024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7763256" y="481888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8339328" y="4764024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8348472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0.02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979408" y="4764024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8988552" y="481888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86" name="Rectangle 285"/>
          <p:cNvSpPr/>
          <p:nvPr/>
        </p:nvSpPr>
        <p:spPr>
          <a:xfrm>
            <a:off x="228600" y="5166360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237744" y="5221224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36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502920" y="5166360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512064" y="5221224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731520" y="5166360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740664" y="522122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[3 9 10 3 10]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810512" y="5166360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819656" y="522122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1.39/2.34/0.71/1.00/2.86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3685031" y="5166360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3694175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0.3883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4325112" y="5166360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4334255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0.3883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4965192" y="5166360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4974336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5458968" y="5166360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5468112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26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6099048" y="5166360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6108192" y="5221224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42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6766560" y="5166360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6775704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7260336" y="5166360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7269480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754112" y="5166360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7763256" y="522122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8339328" y="5166360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8348472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979408" y="5166360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8988552" y="522122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14" name="Rectangle 313"/>
          <p:cNvSpPr/>
          <p:nvPr/>
        </p:nvSpPr>
        <p:spPr>
          <a:xfrm>
            <a:off x="228600" y="5568696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237744" y="5623559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37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502920" y="5568696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512064" y="5623559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31520" y="5568696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740664" y="5623559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[10 9 3 6 10]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810512" y="5568696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1819656" y="5623559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2.03/0.02/0.26/1.04/2.83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3685031" y="556869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3694175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325112" y="556869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4334255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965192" y="556869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4974336" y="5623559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5458968" y="556869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5468112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15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6099048" y="5568696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TextBox 330"/>
          <p:cNvSpPr txBox="1"/>
          <p:nvPr/>
        </p:nvSpPr>
        <p:spPr>
          <a:xfrm>
            <a:off x="6108192" y="5623559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15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6766560" y="556869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TextBox 332"/>
          <p:cNvSpPr txBox="1"/>
          <p:nvPr/>
        </p:nvSpPr>
        <p:spPr>
          <a:xfrm>
            <a:off x="6775704" y="5623559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7260336" y="556869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TextBox 334"/>
          <p:cNvSpPr txBox="1"/>
          <p:nvPr/>
        </p:nvSpPr>
        <p:spPr>
          <a:xfrm>
            <a:off x="7269480" y="5623559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7754112" y="5568696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TextBox 336"/>
          <p:cNvSpPr txBox="1"/>
          <p:nvPr/>
        </p:nvSpPr>
        <p:spPr>
          <a:xfrm>
            <a:off x="7763256" y="5623559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8339328" y="556869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8348472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8979408" y="5568696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8988552" y="5623559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42" name="Rectangle 341"/>
          <p:cNvSpPr/>
          <p:nvPr/>
        </p:nvSpPr>
        <p:spPr>
          <a:xfrm>
            <a:off x="228600" y="5971032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TextBox 342"/>
          <p:cNvSpPr txBox="1"/>
          <p:nvPr/>
        </p:nvSpPr>
        <p:spPr>
          <a:xfrm>
            <a:off x="237744" y="6025896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38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502920" y="5971032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512064" y="6025896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731520" y="5971032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740664" y="6025896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[4 5 3 6]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1810512" y="5971032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TextBox 348"/>
          <p:cNvSpPr txBox="1"/>
          <p:nvPr/>
        </p:nvSpPr>
        <p:spPr>
          <a:xfrm>
            <a:off x="1819656" y="6025896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0.65/2.54/1.37/0.84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3685031" y="5971032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350"/>
          <p:cNvSpPr txBox="1"/>
          <p:nvPr/>
        </p:nvSpPr>
        <p:spPr>
          <a:xfrm>
            <a:off x="3694175" y="602589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0.6001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4325112" y="5971032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352"/>
          <p:cNvSpPr txBox="1"/>
          <p:nvPr/>
        </p:nvSpPr>
        <p:spPr>
          <a:xfrm>
            <a:off x="4334255" y="602589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0.6001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4965192" y="5971032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354"/>
          <p:cNvSpPr txBox="1"/>
          <p:nvPr/>
        </p:nvSpPr>
        <p:spPr>
          <a:xfrm>
            <a:off x="4974336" y="602589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5458968" y="5971032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TextBox 356"/>
          <p:cNvSpPr txBox="1"/>
          <p:nvPr/>
        </p:nvSpPr>
        <p:spPr>
          <a:xfrm>
            <a:off x="5468112" y="602589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6099048" y="5971032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TextBox 358"/>
          <p:cNvSpPr txBox="1"/>
          <p:nvPr/>
        </p:nvSpPr>
        <p:spPr>
          <a:xfrm>
            <a:off x="6108192" y="6025896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46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6766560" y="5971032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TextBox 360"/>
          <p:cNvSpPr txBox="1"/>
          <p:nvPr/>
        </p:nvSpPr>
        <p:spPr>
          <a:xfrm>
            <a:off x="6775704" y="602589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7260336" y="5971032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TextBox 362"/>
          <p:cNvSpPr txBox="1"/>
          <p:nvPr/>
        </p:nvSpPr>
        <p:spPr>
          <a:xfrm>
            <a:off x="7269480" y="602589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7754112" y="5971032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TextBox 364"/>
          <p:cNvSpPr txBox="1"/>
          <p:nvPr/>
        </p:nvSpPr>
        <p:spPr>
          <a:xfrm>
            <a:off x="7763256" y="602589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8339328" y="5971032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TextBox 366"/>
          <p:cNvSpPr txBox="1"/>
          <p:nvPr/>
        </p:nvSpPr>
        <p:spPr>
          <a:xfrm>
            <a:off x="8348472" y="602589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8979408" y="5971032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TextBox 368"/>
          <p:cNvSpPr txBox="1"/>
          <p:nvPr/>
        </p:nvSpPr>
        <p:spPr>
          <a:xfrm>
            <a:off x="8988552" y="602589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70" name="Rectangle 369"/>
          <p:cNvSpPr/>
          <p:nvPr/>
        </p:nvSpPr>
        <p:spPr>
          <a:xfrm>
            <a:off x="228600" y="6373368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TextBox 370"/>
          <p:cNvSpPr txBox="1"/>
          <p:nvPr/>
        </p:nvSpPr>
        <p:spPr>
          <a:xfrm>
            <a:off x="237744" y="6428231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39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502920" y="6373368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TextBox 372"/>
          <p:cNvSpPr txBox="1"/>
          <p:nvPr/>
        </p:nvSpPr>
        <p:spPr>
          <a:xfrm>
            <a:off x="512064" y="6428231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731520" y="6373368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TextBox 374"/>
          <p:cNvSpPr txBox="1"/>
          <p:nvPr/>
        </p:nvSpPr>
        <p:spPr>
          <a:xfrm>
            <a:off x="740664" y="6428231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[4 11 1 9 6 6]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1810512" y="6373368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TextBox 376"/>
          <p:cNvSpPr txBox="1"/>
          <p:nvPr/>
        </p:nvSpPr>
        <p:spPr>
          <a:xfrm>
            <a:off x="1819656" y="6428231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0.11/0.12/1.00/2.84/1.85/1.11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3685031" y="637336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TextBox 378"/>
          <p:cNvSpPr txBox="1"/>
          <p:nvPr/>
        </p:nvSpPr>
        <p:spPr>
          <a:xfrm>
            <a:off x="3694175" y="642823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1.1628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4325112" y="637336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TextBox 380"/>
          <p:cNvSpPr txBox="1"/>
          <p:nvPr/>
        </p:nvSpPr>
        <p:spPr>
          <a:xfrm>
            <a:off x="4334255" y="642823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1.1628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4965192" y="6373368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TextBox 382"/>
          <p:cNvSpPr txBox="1"/>
          <p:nvPr/>
        </p:nvSpPr>
        <p:spPr>
          <a:xfrm>
            <a:off x="4974336" y="642823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5458968" y="637336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TextBox 384"/>
          <p:cNvSpPr txBox="1"/>
          <p:nvPr/>
        </p:nvSpPr>
        <p:spPr>
          <a:xfrm>
            <a:off x="5468112" y="642823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59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6099048" y="6373368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TextBox 386"/>
          <p:cNvSpPr txBox="1"/>
          <p:nvPr/>
        </p:nvSpPr>
        <p:spPr>
          <a:xfrm>
            <a:off x="6108192" y="6428231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5376</a:t>
            </a:r>
          </a:p>
        </p:txBody>
      </p:sp>
      <p:sp>
        <p:nvSpPr>
          <p:cNvPr id="388" name="Rectangle 387"/>
          <p:cNvSpPr/>
          <p:nvPr/>
        </p:nvSpPr>
        <p:spPr>
          <a:xfrm>
            <a:off x="6766560" y="6373368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TextBox 388"/>
          <p:cNvSpPr txBox="1"/>
          <p:nvPr/>
        </p:nvSpPr>
        <p:spPr>
          <a:xfrm>
            <a:off x="6775704" y="642823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7260336" y="6373368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TextBox 390"/>
          <p:cNvSpPr txBox="1"/>
          <p:nvPr/>
        </p:nvSpPr>
        <p:spPr>
          <a:xfrm>
            <a:off x="7269480" y="642823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7754112" y="6373368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TextBox 392"/>
          <p:cNvSpPr txBox="1"/>
          <p:nvPr/>
        </p:nvSpPr>
        <p:spPr>
          <a:xfrm>
            <a:off x="7763256" y="6428231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0.04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8339328" y="637336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TextBox 394"/>
          <p:cNvSpPr txBox="1"/>
          <p:nvPr/>
        </p:nvSpPr>
        <p:spPr>
          <a:xfrm>
            <a:off x="8348472" y="642823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8979408" y="6373368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TextBox 396"/>
          <p:cNvSpPr txBox="1"/>
          <p:nvPr/>
        </p:nvSpPr>
        <p:spPr>
          <a:xfrm>
            <a:off x="8988552" y="6428231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Simulation Test 2 — Trials 40–50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50 random cases · WeakRule ON vs OFF · seed=123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56031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" y="1188720"/>
            <a:ext cx="219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21031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188720"/>
            <a:ext cx="173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143000"/>
            <a:ext cx="1060704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188720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10512" y="1143000"/>
            <a:ext cx="1856231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1188720"/>
            <a:ext cx="18196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d1 (s)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1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19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399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5192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79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58968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77255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1143000"/>
            <a:ext cx="649224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17336" y="1188720"/>
            <a:ext cx="61264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84848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0336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78624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2" y="1143000"/>
            <a:ext cx="56692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0" y="1188720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t_ON(s)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9328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57616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t_OFF(s)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79408" y="1143000"/>
            <a:ext cx="402336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97696" y="1188720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1545336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7744" y="1600200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545336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064" y="1600200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1545336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0664" y="16002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[3 2 5 11 7]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10512" y="1545336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19656" y="1600200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0.89/2.85/2.45/0.97/2.92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85031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94175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0.3720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5112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34255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0.3720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65192" y="154533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74336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8968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68112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9048" y="1545336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08192" y="1600200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691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154533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60336" y="154533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69480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165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54112" y="1545336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63256" y="160020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39328" y="154533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48472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0.56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79408" y="1545336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88552" y="160020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28600" y="1947672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37744" y="2002536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1947672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12064" y="2002536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1947672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2002536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[5 8 5 4 1 4]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10512" y="1947672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19656" y="2002536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0.81/1.20/0.55/2.86/0.31/1.88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85031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694175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25112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334255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65192" y="194767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74336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58968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68112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5578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99048" y="1947672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108192" y="2002536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6952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66560" y="194767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775704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60336" y="194767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69480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54112" y="1947672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63256" y="200253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39328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48472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79408" y="1947672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988552" y="200253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" y="2350008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37744" y="2404872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" y="2350008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12064" y="2404872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" y="2350008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0664" y="2404872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[6 5 11 4]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10512" y="2350008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819656" y="2404872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0.06/2.75/2.59/0.83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85031" y="235000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694175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0.6263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25112" y="235000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334255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0.6263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65192" y="2350008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974336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58968" y="235000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68112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99048" y="2350008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108192" y="2404872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766560" y="2350008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775704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260336" y="2350008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269480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754112" y="2350008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763256" y="240487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339328" y="2350008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348472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979408" y="2350008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988552" y="240487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28600" y="2752344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37744" y="2807208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2920" y="2752344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12064" y="2807208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31520" y="2752344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40664" y="2807208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[2 2 11 5 8]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10512" y="2752344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819656" y="2807208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2.83/0.74/0.04/0.07/2.13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85031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694175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0.6959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325112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334255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0.6959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65192" y="2752344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4974336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58968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468112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99048" y="2752344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108192" y="2807208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77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766560" y="2752344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775704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260336" y="2752344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69480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754112" y="2752344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7763256" y="280720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339328" y="2752344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348472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979408" y="2752344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8988552" y="280720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228600" y="3154680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237744" y="3209544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44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02920" y="3154680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512064" y="3209544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31520" y="3154680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40664" y="320954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[6 5 7 11 8 3]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810512" y="3154680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819656" y="320954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2.32/0.40/0.50/1.84/0.72/2.11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85031" y="315468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694175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3.4409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325112" y="315468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4334255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965192" y="3154680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4974336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458968" y="315468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468112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521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099048" y="3154680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108192" y="3209544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5442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766560" y="3154680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6775704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63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3154680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269480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754112" y="3154680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7763256" y="320954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1.06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339328" y="315468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8348472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979408" y="3154680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8988552" y="320954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28600" y="3557016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237744" y="3611880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45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02920" y="3557016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512064" y="3611880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31520" y="3557016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40664" y="361188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[4 12 1 8]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810512" y="3557016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819656" y="3611880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0.12/2.28/0.69/0.27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685031" y="3557016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694175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1.3791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325112" y="3557016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334255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1.3791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965192" y="3557016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4974336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5458968" y="3557016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5468112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54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099048" y="3557016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108192" y="3611880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100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766560" y="3557016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775704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260336" y="3557016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7269480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27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754112" y="3557016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7763256" y="361188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0.06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339328" y="3557016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8348472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0.06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979408" y="3557016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988552" y="361188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228600" y="3959352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237744" y="4014215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46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02920" y="3959352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512064" y="4014215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31520" y="3959352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740664" y="4014215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[9 9 1 4 6]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810512" y="3959352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1819656" y="4014215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0.86/2.43/0.39/1.84/2.96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685031" y="3959352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3694175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0.3180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25112" y="3959352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4334255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0.3180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965192" y="3959352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4974336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5458968" y="3959352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5468112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22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099048" y="3959352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6108192" y="4014215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69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766560" y="3959352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6775704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260336" y="3959352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7269480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12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7754112" y="3959352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7763256" y="4014215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0.02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8339328" y="3959352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8348472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0.03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8979408" y="3959352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8988552" y="4014215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228600" y="4361688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237744" y="4416551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47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02920" y="4361688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512064" y="4416551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31520" y="4361688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740664" y="4416551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[3 1 12 11 12 5]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810512" y="4361688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1819656" y="4416551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2.23/0.64/1.18/2.55/0.38/2.68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3685031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3694175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4325112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334255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4965192" y="4361688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4974336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458968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5468112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17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099048" y="4361688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6108192" y="4416551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17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6766560" y="4361688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6775704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260336" y="4361688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7269480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7754112" y="4361688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7763256" y="4416551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8339328" y="4361688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8348472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8979408" y="4361688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8988552" y="4416551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228600" y="4764024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237744" y="4818888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48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502920" y="4764024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512064" y="4818888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31520" y="4764024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740664" y="4818888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[6 4 12 7]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810512" y="4764024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1819656" y="4818888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2.41/2.57/2.77/0.91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685031" y="4764024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3694175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0.6245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4325112" y="4764024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4334255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0.6245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965192" y="4764024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4974336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458968" y="4764024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468112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19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6099048" y="4764024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6108192" y="4818888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52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766560" y="4764024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6775704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7260336" y="4764024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7269480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754112" y="4764024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7763256" y="481888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8339328" y="4764024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8348472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979408" y="4764024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8988552" y="481888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86" name="Rectangle 285"/>
          <p:cNvSpPr/>
          <p:nvPr/>
        </p:nvSpPr>
        <p:spPr>
          <a:xfrm>
            <a:off x="228600" y="5166360"/>
            <a:ext cx="2560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237744" y="5221224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49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502920" y="5166360"/>
            <a:ext cx="21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512064" y="5221224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731520" y="5166360"/>
            <a:ext cx="106070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740664" y="522122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[8 6 12 5]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810512" y="5166360"/>
            <a:ext cx="1856231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819656" y="522122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1.43/1.85/1.21/2.98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3685031" y="5166360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3694175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4325112" y="5166360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4334255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0.0000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4965192" y="5166360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4974336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5458968" y="5166360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5468112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11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6099048" y="5166360"/>
            <a:ext cx="649224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6108192" y="5221224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11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6766560" y="5166360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6775704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7260336" y="5166360"/>
            <a:ext cx="4754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7269480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754112" y="5166360"/>
            <a:ext cx="56692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7763256" y="522122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8339328" y="5166360"/>
            <a:ext cx="62179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8348472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979408" y="5166360"/>
            <a:ext cx="402336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8988552" y="522122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14" name="Rectangle 313"/>
          <p:cNvSpPr/>
          <p:nvPr/>
        </p:nvSpPr>
        <p:spPr>
          <a:xfrm>
            <a:off x="228600" y="5568696"/>
            <a:ext cx="2560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237744" y="5623559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50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502920" y="5568696"/>
            <a:ext cx="21031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512064" y="5623559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31520" y="5568696"/>
            <a:ext cx="106070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740664" y="5623559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[3 4 2]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810512" y="5568696"/>
            <a:ext cx="1856231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1819656" y="5623559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0.85/2.34/1.57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3685031" y="556869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3694175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0.5545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325112" y="556869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4334255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0.5545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965192" y="556869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4974336" y="5623559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8A44"/>
                </a:solidFill>
              </a:rPr>
              <a:t>YES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5458968" y="556869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5468112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25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6099048" y="5568696"/>
            <a:ext cx="649224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TextBox 330"/>
          <p:cNvSpPr txBox="1"/>
          <p:nvPr/>
        </p:nvSpPr>
        <p:spPr>
          <a:xfrm>
            <a:off x="6108192" y="5623559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44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6766560" y="556869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TextBox 332"/>
          <p:cNvSpPr txBox="1"/>
          <p:nvPr/>
        </p:nvSpPr>
        <p:spPr>
          <a:xfrm>
            <a:off x="6775704" y="5623559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7260336" y="5568696"/>
            <a:ext cx="47548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TextBox 334"/>
          <p:cNvSpPr txBox="1"/>
          <p:nvPr/>
        </p:nvSpPr>
        <p:spPr>
          <a:xfrm>
            <a:off x="7269480" y="5623559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7754112" y="5568696"/>
            <a:ext cx="566928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TextBox 336"/>
          <p:cNvSpPr txBox="1"/>
          <p:nvPr/>
        </p:nvSpPr>
        <p:spPr>
          <a:xfrm>
            <a:off x="7763256" y="5623559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8339328" y="5568696"/>
            <a:ext cx="621792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8348472" y="5623559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0.01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8979408" y="5568696"/>
            <a:ext cx="402336" cy="37490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8988552" y="5623559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Simulation Test 2 — Summary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50 trials · seed=123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3291840" cy="155448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36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Cost identical
(ON = OFF)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3291840" cy="1554480"/>
          </a:xfrm>
          <a:prstGeom prst="rect">
            <a:avLst/>
          </a:prstGeom>
          <a:solidFill>
            <a:srgbClr val="D3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280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Cost differs
(Trials 3 &amp; 23 — ON cheaper)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188720"/>
            <a:ext cx="3291840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59" y="1280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12 / 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011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N/A — OFF timed out
(ON completed in 10/12)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37A00"/>
                </a:solidFill>
              </a:rPr>
              <a:t>WeakRule ON is NEVER worse than OFF — in both cost-differ cases, ON finds the better solution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29000"/>
            <a:ext cx="21031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429000"/>
            <a:ext cx="73152" cy="45720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4472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</a:rPr>
              <a:t>Avg time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8503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44"/>
                </a:solidFill>
              </a:rPr>
              <a:t>2.30 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3429000"/>
            <a:ext cx="21031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51760" y="3429000"/>
            <a:ext cx="7315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88920" y="34472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</a:rPr>
              <a:t>Avg time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68503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9.07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3429000"/>
            <a:ext cx="21031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37760" y="3429000"/>
            <a:ext cx="73152" cy="45720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74920" y="34472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</a:rPr>
              <a:t>Speedup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368503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BB0"/>
                </a:solidFill>
              </a:rPr>
              <a:t>~4×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429000"/>
            <a:ext cx="21031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23760" y="3429000"/>
            <a:ext cx="73152" cy="457200"/>
          </a:xfrm>
          <a:prstGeom prst="rect">
            <a:avLst/>
          </a:prstGeom>
          <a:solidFill>
            <a:srgbClr val="D3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60920" y="34472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</a:rPr>
              <a:t>ON timeouts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68503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37A00"/>
                </a:solidFill>
              </a:rPr>
              <a:t>2/50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0" y="3429000"/>
            <a:ext cx="21031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509760" y="3429000"/>
            <a:ext cx="7315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46920" y="34472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</a:rPr>
              <a:t>OFF timeouts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68503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12/50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1605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Trial 3:  routes=[8 9 4 5 3]  ON=2.7792 &lt; OFF=2.9938  — same V_temp/x mechanism as Test 1 Trial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5902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Trial 23: routes=[8 1 6 12 5] ON=1.7178 &lt; OFF=1.7974  — ON again finds strictly better solution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02005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Trials 6 &amp; 41: both ON and OFF timeout (N=6, high contention) — neither finds complete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44982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N=6 cases dominate timeouts; N≤4 cases all complete rapidly with matching costs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87959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Combined across Test 1+2 (70 trials): 51 YES · 3 NO (ON always better) · 16 N/A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6BB0"/>
                </a:solidFill>
              </a:rPr>
              <a:t>Simulation Test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01281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556B82"/>
                </a:solidFill>
              </a:rPr>
              <a:t>20 random trials  ·  </a:t>
            </a:r>
            <a:r>
              <a:rPr sz="1600" b="0" dirty="0" err="1">
                <a:solidFill>
                  <a:srgbClr val="556B82"/>
                </a:solidFill>
              </a:rPr>
              <a:t>N_sys</a:t>
            </a:r>
            <a:r>
              <a:rPr sz="1600" b="0" dirty="0">
                <a:solidFill>
                  <a:srgbClr val="556B82"/>
                </a:solidFill>
              </a:rPr>
              <a:t> ∈ {7–10}  ·  routes ∈ {1–12}  ·  d1 ∈ U[0,3 s]  ·  seed=456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37A00"/>
                </a:solidFill>
              </a:rPr>
              <a:t>Stress test: exploring the scalability limits of the decision tree scheduler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Simulation Test 3 — Trials 1–10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N_sys ∈ {7–10} · stress test · seed=456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56031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" y="1188720"/>
            <a:ext cx="219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21031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188720"/>
            <a:ext cx="173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143000"/>
            <a:ext cx="1060704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188720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10512" y="1143000"/>
            <a:ext cx="1856231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1188720"/>
            <a:ext cx="18196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d1 (s)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1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19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399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5192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79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58968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77255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1143000"/>
            <a:ext cx="649224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17336" y="1188720"/>
            <a:ext cx="61264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84848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0336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78624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2" y="1143000"/>
            <a:ext cx="56692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0" y="1188720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t_ON(s)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9328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57616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t_OFF(s)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79408" y="1143000"/>
            <a:ext cx="402336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97696" y="1188720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1545336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7744" y="1600200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545336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064" y="1600200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1545336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0664" y="16002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[2 10 10 8 8 11 10]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10512" y="1545336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19656" y="1600200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0.54/0.45/1.31/1.16/1.73/0.44/2.06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85031" y="154533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94175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5112" y="154533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34255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65192" y="154533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74336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8968" y="154533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68112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5805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9048" y="1545336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08192" y="1600200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7497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154533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60336" y="154533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69480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54112" y="1545336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63256" y="160020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39328" y="154533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48472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79408" y="1545336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88552" y="160020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1947672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37744" y="2002536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1947672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12064" y="2002536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1947672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2002536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[7 8 9 9 3 2 3 1]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10512" y="1947672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19656" y="2002536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1.08/0.44/1.63/2.57/0.60/0.40/0.64/2.92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85031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694175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25112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334255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65192" y="194767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74336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58968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68112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4726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99048" y="1947672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108192" y="2002536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8321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66560" y="194767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775704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60336" y="194767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69480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54112" y="1947672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63256" y="200253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39328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48472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79408" y="1947672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988552" y="200253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" y="2350008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37744" y="2404872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" y="2350008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12064" y="2404872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" y="2350008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0664" y="2404872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[7 6 3 4 8 5 9 7 12 2]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10512" y="2350008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819656" y="2404872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2.69/0.53/1.78/0.13/1.96/1.10/2.39/0.03/1.44/0.29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85031" y="235000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694175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25112" y="235000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334255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65192" y="2350008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974336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58968" y="235000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68112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6929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99048" y="2350008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108192" y="2404872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7982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766560" y="2350008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775704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260336" y="2350008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269480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754112" y="2350008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763256" y="240487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339328" y="235000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348472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979408" y="2350008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988552" y="240487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28600" y="2752344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37744" y="2807208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2920" y="2752344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12064" y="2807208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31520" y="2752344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40664" y="2807208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[10 8 12 9 12 7 7]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10512" y="2752344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819656" y="2807208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0.35/1.00/0.82/2.61/0.26/1.44/2.51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85031" y="275234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694175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325112" y="275234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334255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65192" y="2752344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4974336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58968" y="275234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468112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4853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99048" y="2752344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108192" y="2807208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5906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766560" y="2752344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775704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260336" y="2752344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69480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754112" y="2752344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7763256" y="280720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339328" y="275234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348472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979408" y="2752344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8988552" y="280720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28600" y="3154680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237744" y="3209544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02920" y="3154680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512064" y="3209544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31520" y="3154680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40664" y="320954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 8 5 9 2 5 1 5 2]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810512" y="3154680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819656" y="320954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0.67/2.38/2.15/1.45/2.94/2.28/0.27/1.61/2.03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85031" y="315468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694175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325112" y="315468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4334255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965192" y="3154680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4974336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458968" y="315468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468112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4334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099048" y="3154680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108192" y="3209544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6528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766560" y="3154680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6775704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3154680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269480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754112" y="3154680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7763256" y="320954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30.02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339328" y="315468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8348472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979408" y="3154680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8988552" y="320954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28600" y="3557016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237744" y="3611880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02920" y="3557016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512064" y="3611880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31520" y="3557016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40664" y="361188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[8 11 10 7 11 5 1 2 12]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810512" y="3557016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819656" y="3611880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0.59/2.66/1.94/0.08/1.91/2.63/0.50/0.70/0.78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685031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694175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325112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334255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965192" y="355701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4974336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5458968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5468112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5913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099048" y="3557016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108192" y="3611880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6503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766560" y="355701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775704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260336" y="355701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7269480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754112" y="3557016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7763256" y="361188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30.02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339328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8348472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979408" y="3557016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988552" y="361188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228600" y="3959352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237744" y="4014215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02920" y="3959352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512064" y="4014215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31520" y="3959352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740664" y="4014215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[10 2 12 2 11 1 2 4]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810512" y="3959352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1819656" y="4014215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2.71/2.76/0.06/2.29/0.95/1.26/1.70/2.10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685031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3694175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25112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4334255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965192" y="395935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4974336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5458968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5468112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4747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099048" y="3959352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6108192" y="4014215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6002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766560" y="395935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6775704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260336" y="395935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7269480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7754112" y="3959352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7763256" y="4014215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8339328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8348472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8979408" y="3959352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8988552" y="4014215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228600" y="4361688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237744" y="4416551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02920" y="4361688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512064" y="4416551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31520" y="4361688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740664" y="4416551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 9 12 4 12 8 2]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810512" y="4361688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1819656" y="4416551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0.26/1.89/1.51/1.57/1.89/0.68/0.79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3685031" y="436168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3694175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4.4427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4325112" y="436168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334255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4965192" y="4361688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4974336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458968" y="436168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5468112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2224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099048" y="4361688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6108192" y="4416551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5909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6766560" y="4361688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6775704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304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260336" y="4361688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7269480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7754112" y="4361688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7763256" y="4416551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7.77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8339328" y="436168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8348472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8979408" y="4361688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8988552" y="4416551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228600" y="4764024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237744" y="4818888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502920" y="4764024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512064" y="4818888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31520" y="4764024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740664" y="4818888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[5 9 3 4 11 6 1 11 6]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810512" y="4764024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1819656" y="4818888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1.57/1.96/1.11/2.96/0.83/2.04/1.64/1.58/0.02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685031" y="476402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3694175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4325112" y="476402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4334255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965192" y="4764024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4974336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458968" y="476402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468112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4068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6099048" y="4764024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6108192" y="4818888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5423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766560" y="4764024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6775704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7260336" y="4764024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7269480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754112" y="4764024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7763256" y="481888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8339328" y="476402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8348472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30.04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979408" y="4764024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8988552" y="481888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228600" y="5166360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237744" y="5221224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502920" y="5166360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512064" y="5221224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10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731520" y="5166360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740664" y="522122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[3 9 2 6 4 3 5 10 2 8]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810512" y="5166360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819656" y="522122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0.67/1.38/1.86/0.48/2.79/1.95/1.69/1.61/2.22/2.83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3685031" y="516636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3694175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4325112" y="516636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4334255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4965192" y="5166360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4974336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5458968" y="516636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5468112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4089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6099048" y="5166360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6108192" y="5221224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7542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6766560" y="5166360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6775704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7260336" y="5166360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7269480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754112" y="5166360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7763256" y="522122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8339328" y="516636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8348472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30.05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979408" y="5166360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8988552" y="522122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Simulation Test 3 — Trials 11–20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N_sys ∈ {7–10} · stress test · seed=456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56031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" y="1188720"/>
            <a:ext cx="219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21031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188720"/>
            <a:ext cx="173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143000"/>
            <a:ext cx="1060704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188720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10512" y="1143000"/>
            <a:ext cx="1856231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1188720"/>
            <a:ext cx="18196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d1 (s)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1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19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399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Cost 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5192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79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58968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77255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1143000"/>
            <a:ext cx="649224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17336" y="1188720"/>
            <a:ext cx="61264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Nodes 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84848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0336" y="1143000"/>
            <a:ext cx="47548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78624" y="118872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Lvs 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2" y="1143000"/>
            <a:ext cx="566928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0" y="1188720"/>
            <a:ext cx="530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t_ON(s)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9328" y="1143000"/>
            <a:ext cx="621792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57616" y="1188720"/>
            <a:ext cx="585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t_OFF(s)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79408" y="1143000"/>
            <a:ext cx="402336" cy="374904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97696" y="1188720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1545336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7744" y="1600200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545336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064" y="1600200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1545336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0664" y="16002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 3 6 9 7 3 3 12]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10512" y="1545336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19656" y="1600200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1.01/2.04/2.20/1.16/1.59/0.34/1.36/0.15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85031" y="154533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94175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5112" y="154533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34255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65192" y="154533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74336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8968" y="154533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68112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4964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9048" y="1545336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08192" y="1600200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6011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154533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60336" y="154533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69480" y="1600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54112" y="1545336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63256" y="160020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39328" y="154533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48472" y="160020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79408" y="1545336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88552" y="160020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1947672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37744" y="2002536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1947672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12064" y="2002536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1947672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2002536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[11 6 1 12 12 5 4 6]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10512" y="1947672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19656" y="2002536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0.60/2.21/0.53/0.46/1.06/1.20/2.80/1.63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85031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694175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25112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334255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65192" y="194767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74336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58968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68112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4892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99048" y="1947672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108192" y="2002536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7778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66560" y="194767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775704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60336" y="194767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69480" y="20025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54112" y="1947672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63256" y="200253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39328" y="194767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48472" y="2002536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79408" y="1947672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988552" y="200253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" y="2350008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37744" y="2404872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" y="2350008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12064" y="2404872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" y="2350008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0664" y="2404872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[7 12 1 11 4 7 8 3]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10512" y="2350008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819656" y="2404872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0.00/1.16/0.60/0.99/2.25/1.41/1.09/2.93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85031" y="235000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694175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25112" y="235000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334255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65192" y="2350008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974336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58968" y="235000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68112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5168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99048" y="2350008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108192" y="2404872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6805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766560" y="2350008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775704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260336" y="2350008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269480" y="2404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754112" y="2350008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763256" y="240487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339328" y="235000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348472" y="2404872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979408" y="2350008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988552" y="240487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28600" y="2752344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37744" y="2807208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2920" y="2752344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12064" y="2807208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31520" y="2752344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40664" y="2807208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[10 4 11 4 4 7 6 6]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10512" y="2752344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819656" y="2807208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1.65/2.94/2.01/0.58/1.07/1.25/2.60/1.61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85031" y="275234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694175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325112" y="275234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334255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65192" y="2752344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4974336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58968" y="275234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468112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5415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99048" y="2752344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108192" y="2807208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6703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766560" y="2752344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775704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260336" y="2752344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69480" y="28072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754112" y="2752344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7763256" y="280720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339328" y="275234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348472" y="280720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979408" y="2752344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8988552" y="280720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28600" y="3154680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237744" y="3209544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02920" y="3154680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512064" y="3209544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31520" y="3154680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40664" y="320954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[9 11 12 6 4 8 9]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810512" y="3154680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819656" y="320954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0.50/2.07/1.98/0.68/1.77/1.30/0.80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85031" y="315468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694175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3.8563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325112" y="315468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4334255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965192" y="3154680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4974336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458968" y="315468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468112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3071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099048" y="3154680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108192" y="3209544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5202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766560" y="3154680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6775704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648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3154680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269480" y="320954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754112" y="3154680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7763256" y="320954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14.63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339328" y="315468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8348472" y="320954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30.02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979408" y="3154680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8988552" y="320954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28600" y="3557016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237744" y="3611880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16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02920" y="3557016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512064" y="3611880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31520" y="3557016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40664" y="361188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[3 6 12 12 10 6 7 9 7]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810512" y="3557016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819656" y="3611880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1.16/0.62/2.53/2.90/0.13/0.82/2.03/1.27/2.82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685031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694175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1.5488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325112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334255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965192" y="355701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4974336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5458968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5468112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298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099048" y="3557016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108192" y="3611880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5108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766560" y="355701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775704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32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260336" y="3557016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7269480" y="36118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754112" y="3557016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7763256" y="361188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0.19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339328" y="3557016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8348472" y="3611880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979408" y="3557016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988552" y="361188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228600" y="3959352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237744" y="4014215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17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02920" y="3959352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512064" y="4014215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31520" y="3959352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740664" y="4014215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[7 2 10 5 2 1 7 7 9]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810512" y="3959352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1819656" y="4014215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2.34/1.26/1.80/1.12/0.30/2.73/1.80/1.68/2.57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685031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3694175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25112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4334255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965192" y="395935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4974336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5458968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5468112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5537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099048" y="3959352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6108192" y="4014215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8136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766560" y="395935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6775704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260336" y="3959352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7269480" y="4014215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7754112" y="3959352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7763256" y="4014215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8339328" y="3959352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8348472" y="4014215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30.03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8979408" y="3959352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8988552" y="4014215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228600" y="4361688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237744" y="4416551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18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02920" y="4361688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512064" y="4416551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9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31520" y="4361688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740664" y="4416551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[11 10 9 5 3 8 4 6 5]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810512" y="4361688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1819656" y="4416551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1.01/2.25/1.92/1.04/0.39/2.88/2.17/1.01/2.90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3685031" y="436168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3694175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4325112" y="436168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4334255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4965192" y="4361688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4974336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458968" y="436168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5468112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4836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099048" y="4361688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6108192" y="4416551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5166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6766560" y="4361688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6775704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260336" y="4361688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7269480" y="4416551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7754112" y="4361688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7763256" y="4416551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8339328" y="4361688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8348472" y="4416551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30.01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8979408" y="4361688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8988552" y="4416551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ON OFF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228600" y="4764024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237744" y="4818888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19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502920" y="4764024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512064" y="4818888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7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31520" y="4764024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740664" y="4818888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[7 5 12 11 3 11 9]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810512" y="4764024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1819656" y="4818888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2.74/2.72/2.36/1.39/2.38/1.29/2.69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685031" y="476402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3694175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4.6417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4325112" y="476402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4334255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965192" y="4764024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4974336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458968" y="476402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468112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1523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6099048" y="4764024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6108192" y="4818888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6255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766560" y="4764024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6775704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207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7260336" y="4764024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7269480" y="4818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754112" y="4764024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7763256" y="481888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3.68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8339328" y="4764024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8348472" y="4818888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30.00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979408" y="4764024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8988552" y="481888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228600" y="5166360"/>
            <a:ext cx="2560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237744" y="5221224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502920" y="5166360"/>
            <a:ext cx="21031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512064" y="5221224"/>
            <a:ext cx="192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8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731520" y="5166360"/>
            <a:ext cx="106070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740664" y="5221224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[5 6 5 11 9 8 3 3]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810512" y="5166360"/>
            <a:ext cx="1856231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819656" y="522122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2.93/2.33/0.22/2.23/2.70/1.64/1.38/0.32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3685031" y="516636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3694175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1.2931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4325112" y="516636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4334255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NaN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4965192" y="5166360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4974336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37A00"/>
                </a:solidFill>
              </a:rPr>
              <a:t>N/A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5458968" y="516636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5468112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228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6099048" y="5166360"/>
            <a:ext cx="649224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6108192" y="5221224"/>
            <a:ext cx="630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5889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6766560" y="5166360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6775704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31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7260336" y="5166360"/>
            <a:ext cx="47548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7269480" y="52212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754112" y="5166360"/>
            <a:ext cx="566928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7763256" y="522122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0.12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8339328" y="5166360"/>
            <a:ext cx="621792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8348472" y="5221224"/>
            <a:ext cx="603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</a:rPr>
              <a:t>30.02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979408" y="5166360"/>
            <a:ext cx="402336" cy="374904"/>
          </a:xfrm>
          <a:prstGeom prst="rect">
            <a:avLst/>
          </a:prstGeom>
          <a:solidFill>
            <a:srgbClr val="FE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8988552" y="522122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</a:rPr>
              <a:t>OFF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Simulation Test 3 — Summary &amp; Scalability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N_sys ∈ {7–10} · 20 trials · seed=456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3291840" cy="155448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5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ON finds solution
(OFF all timeout)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3291840" cy="1554480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280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0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Cost match
(OFF never completes)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188720"/>
            <a:ext cx="3291840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59" y="1280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20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011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All N/A
(OFF 100% timeout)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37A00"/>
                </a:solidFill>
              </a:rPr>
              <a:t>WeakRule ON still finds solutions where OFF completely fails — advantage grows with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29000"/>
            <a:ext cx="21031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429000"/>
            <a:ext cx="73152" cy="457200"/>
          </a:xfrm>
          <a:prstGeom prst="rect">
            <a:avLst/>
          </a:prstGeom>
          <a:solidFill>
            <a:srgbClr val="D3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4472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</a:rPr>
              <a:t>Avg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8503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37A00"/>
                </a:solidFill>
              </a:rPr>
              <a:t>23.83 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3429000"/>
            <a:ext cx="21031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51760" y="3429000"/>
            <a:ext cx="7315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88920" y="34472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</a:rPr>
              <a:t>Avg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68503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30.01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3429000"/>
            <a:ext cx="21031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37760" y="3429000"/>
            <a:ext cx="73152" cy="45720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74920" y="34472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</a:rPr>
              <a:t>ON solves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368503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44"/>
                </a:solidFill>
              </a:rPr>
              <a:t>5/20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429000"/>
            <a:ext cx="21031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23760" y="3429000"/>
            <a:ext cx="7315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60920" y="34472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</a:rPr>
              <a:t>OFF solves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68503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0/20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0" y="3429000"/>
            <a:ext cx="21031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509760" y="3429000"/>
            <a:ext cx="73152" cy="45720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46920" y="34472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</a:rPr>
              <a:t>Best 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68503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44"/>
                </a:solidFill>
              </a:rPr>
              <a:t>0.12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1605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Trial 16 (N=9): ON solves in 0.19 s / 298 nodes — sparse conflict, WeakRule prunes aggressively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5902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Trial 20 (N=8): ON solves in 0.12 s / 228 nodes — fastest in batch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02005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Trials 8/15/19: ON finds solution in 3–15 s; OFF still times 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44982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N=10 (Trials 3, 10): both methods fail — search space exceeds 30 s budget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87959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Practical range: ON handles N≤7 reliably; N=8–9 depends on contention; N≥10 needs heuristics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Overall Conclusion — 90 Random Trials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704088" cy="43891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234440"/>
            <a:ext cx="6675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143000"/>
            <a:ext cx="2532888" cy="43891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1234440"/>
            <a:ext cx="2496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Config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143000"/>
            <a:ext cx="1069848" cy="43891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67327" y="1234440"/>
            <a:ext cx="103327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Cost Match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143000"/>
            <a:ext cx="1069848" cy="43891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64607" y="1234440"/>
            <a:ext cx="103327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ON Better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143000"/>
            <a:ext cx="795528" cy="43891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61888" y="1234440"/>
            <a:ext cx="75895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N/A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143000"/>
            <a:ext cx="1069848" cy="43891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84848" y="1234440"/>
            <a:ext cx="103327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Avg t_ON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143000"/>
            <a:ext cx="1069848" cy="438912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82127" y="1234440"/>
            <a:ext cx="103327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Avg t_OFF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618488"/>
            <a:ext cx="704088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1709928"/>
            <a:ext cx="6766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Test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1618488"/>
            <a:ext cx="2532888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07008" y="1709928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20 trials, N=3–6, seed=42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1618488"/>
            <a:ext cx="1069848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67327" y="1709928"/>
            <a:ext cx="104241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8A44"/>
                </a:solidFill>
              </a:rPr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1618488"/>
            <a:ext cx="1069848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64607" y="1709928"/>
            <a:ext cx="104241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37A00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618488"/>
            <a:ext cx="795528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61888" y="1709928"/>
            <a:ext cx="7680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1618488"/>
            <a:ext cx="1069848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84848" y="1709928"/>
            <a:ext cx="104241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0.54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1618488"/>
            <a:ext cx="1069848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82127" y="1709928"/>
            <a:ext cx="104241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8.47 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093976"/>
            <a:ext cx="70408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2185416"/>
            <a:ext cx="6766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Test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" y="2093976"/>
            <a:ext cx="253288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07008" y="2185416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50 trials, N=3–6, seed=123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2093976"/>
            <a:ext cx="106984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67327" y="2185416"/>
            <a:ext cx="104241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8A44"/>
                </a:solidFill>
              </a:rPr>
              <a:t>36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2093976"/>
            <a:ext cx="106984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64607" y="2185416"/>
            <a:ext cx="104241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37A00"/>
                </a:solidFill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2093976"/>
            <a:ext cx="79552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61888" y="2185416"/>
            <a:ext cx="7680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2093976"/>
            <a:ext cx="106984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84848" y="2185416"/>
            <a:ext cx="104241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2.30 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2093976"/>
            <a:ext cx="106984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882127" y="2185416"/>
            <a:ext cx="104241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9.07 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569464"/>
            <a:ext cx="704088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5488" y="2660904"/>
            <a:ext cx="6766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Test 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88720" y="2569464"/>
            <a:ext cx="2532888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207008" y="2660904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20 trials, N=7–10, seed=456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39" y="2569464"/>
            <a:ext cx="1069848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67327" y="2660904"/>
            <a:ext cx="104241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0*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46320" y="2569464"/>
            <a:ext cx="1069848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864607" y="2660904"/>
            <a:ext cx="104241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37A00"/>
                </a:solidFill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2569464"/>
            <a:ext cx="795528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61888" y="2660904"/>
            <a:ext cx="7680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0" y="2569464"/>
            <a:ext cx="1069848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784848" y="2660904"/>
            <a:ext cx="104241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23.83 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0" y="2569464"/>
            <a:ext cx="1069848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82127" y="2660904"/>
            <a:ext cx="104241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30.01 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301877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B82"/>
                </a:solidFill>
              </a:rPr>
              <a:t>* Test 3: OFF never completes — ON finds 5/20 solutions. No case where ON cost &gt; OFF cost across all 90 trials.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429000"/>
            <a:ext cx="91440" cy="45720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" y="34747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Optimality: WeakRule ON is NEVER suboptimal — 0 counterexamples in 90 trials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087368"/>
            <a:ext cx="91440" cy="457200"/>
          </a:xfrm>
          <a:prstGeom prst="rect">
            <a:avLst/>
          </a:prstGeom>
          <a:solidFill>
            <a:srgbClr val="D3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0080" y="4133087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Superiority: 3 cases where ON finds strictly better solutions than OFF (mechanism confirmed)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745736"/>
            <a:ext cx="91440" cy="457200"/>
          </a:xfrm>
          <a:prstGeom prst="rect">
            <a:avLst/>
          </a:prstGeom>
          <a:solidFill>
            <a:srgbClr val="1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0080" y="479145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Efficiency: ON is 4–16× faster than OFF on N=3–6; only viable option for N≥7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404104"/>
            <a:ext cx="9144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0080" y="544982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Limitation: N≥8 high-contention cases may still timeout — heuristic pruning recommended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4263</Words>
  <Application>Microsoft Office PowerPoint</Application>
  <PresentationFormat>Custom</PresentationFormat>
  <Paragraphs>1539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Renke Wang</cp:lastModifiedBy>
  <cp:revision>1</cp:revision>
  <dcterms:created xsi:type="dcterms:W3CDTF">2013-01-27T09:14:16Z</dcterms:created>
  <dcterms:modified xsi:type="dcterms:W3CDTF">2026-04-22T02:07:43Z</dcterms:modified>
  <cp:category/>
</cp:coreProperties>
</file>