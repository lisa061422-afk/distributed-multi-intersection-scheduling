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Distributed Scheduling for Warehouse AMR
Python ADMM — Batch Validation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BDD7EE"/>
                </a:solidFill>
              </a:rPr>
              <a:t>20 Random Scenarios  |  N = 10 ~ 15 Vehicles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BDD7EE"/>
                </a:solidFill>
              </a:rPr>
              <a:t>2026-04-24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3716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System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09728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Warehouse topology:  </a:t>
            </a:r>
            <a:r>
              <a:rPr sz="1300">
                <a:solidFill>
                  <a:srgbClr val="262626"/>
                </a:solidFill>
              </a:rPr>
              <a:t>4 Intersection agents (merging zones) + 4 Road agents + 1 Terminal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10512"/>
            <a:ext cx="109728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6479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Vehicle count:  </a:t>
            </a:r>
            <a:r>
              <a:rPr sz="1300">
                <a:solidFill>
                  <a:srgbClr val="262626"/>
                </a:solidFill>
              </a:rPr>
              <a:t>N = 10 ~ 15 AGVs; each follows a pre-assigned route through 2–4 intersections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523744"/>
            <a:ext cx="109728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478024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ADMM formulation:  </a:t>
            </a:r>
            <a:r>
              <a:rPr sz="1300">
                <a:solidFill>
                  <a:srgbClr val="262626"/>
                </a:solidFill>
              </a:rPr>
              <a:t>Each agent solves a local QP; consensus on shared entry/exit times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236976"/>
            <a:ext cx="109728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191256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Closed-form solution:  </a:t>
            </a:r>
            <a:r>
              <a:rPr sz="1300">
                <a:solidFill>
                  <a:srgbClr val="262626"/>
                </a:solidFill>
              </a:rPr>
              <a:t>x* = max(-f / [4(rho1+rho2)],  alpha_tilde)  — no numerical solver needed in most cases; only falls back to SLSQP when mutual-exclusion is violated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950208"/>
            <a:ext cx="109728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90448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Parallel execution:  </a:t>
            </a:r>
            <a:r>
              <a:rPr sz="1300">
                <a:solidFill>
                  <a:srgbClr val="262626"/>
                </a:solidFill>
              </a:rPr>
              <a:t>Intersection agents solved concurrently via ProcessPoolExecutor (pre-warmed; zero startup cost during online MPC)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663440"/>
            <a:ext cx="109728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61772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Convergence criteria:  </a:t>
            </a:r>
            <a:r>
              <a:rPr sz="1300">
                <a:solidFill>
                  <a:srgbClr val="262626"/>
                </a:solidFill>
              </a:rPr>
              <a:t>Primal residual r &lt; 0.01  AND  dual residual s &lt; 0.01  (max 50 iterations)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3716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Batch Validation — 20 Scenarios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4592" y="960120"/>
          <a:ext cx="47548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320040"/>
                <a:gridCol w="502920"/>
                <a:gridCol w="411480"/>
                <a:gridCol w="685800"/>
                <a:gridCol w="868680"/>
                <a:gridCol w="868680"/>
                <a:gridCol w="777240"/>
              </a:tblGrid>
              <a:tr h="868680"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Seed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k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T_seq (s)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T_par (s)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Speedup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868680"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101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5.074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9.36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10.29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4500"/>
                          </a:solidFill>
                        </a:rPr>
                        <a:t>0.91x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868680"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4.020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C000"/>
                          </a:solidFill>
                        </a:rPr>
                        <a:t>1.13x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103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5.688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21.90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25.31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4500"/>
                          </a:solidFill>
                        </a:rPr>
                        <a:t>0.87x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868680"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5.472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C000"/>
                          </a:solidFill>
                        </a:rPr>
                        <a:t>1.13x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105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3.959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2.21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2.09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C000"/>
                          </a:solidFill>
                        </a:rPr>
                        <a:t>1.06x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3716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Summary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828800" cy="1097280"/>
          </a:xfrm>
          <a:prstGeom prst="rect">
            <a:avLst/>
          </a:prstGeom>
          <a:solidFill>
            <a:srgbClr val="BDD7EE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1556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1F497D"/>
                </a:solidFill>
              </a:rPr>
              <a:t>Avg Sequential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</a:rPr>
              <a:t>7.38 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1097280"/>
            <a:ext cx="1828800" cy="1097280"/>
          </a:xfrm>
          <a:prstGeom prst="rect">
            <a:avLst/>
          </a:prstGeom>
          <a:solidFill>
            <a:srgbClr val="BDD7EE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111556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1F497D"/>
                </a:solidFill>
              </a:rPr>
              <a:t>Avg Parallel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41732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</a:rPr>
              <a:t>8.14 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1828800" cy="1097280"/>
          </a:xfrm>
          <a:prstGeom prst="rect">
            <a:avLst/>
          </a:prstGeom>
          <a:solidFill>
            <a:srgbClr val="BDD7EE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11556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1F497D"/>
                </a:solidFill>
              </a:rPr>
              <a:t>Avg Speedup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41732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</a:rPr>
              <a:t>1.02x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12280" y="1097280"/>
            <a:ext cx="1828800" cy="1097280"/>
          </a:xfrm>
          <a:prstGeom prst="rect">
            <a:avLst/>
          </a:prstGeom>
          <a:solidFill>
            <a:srgbClr val="BDD7EE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111556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1F497D"/>
                </a:solidFill>
              </a:rPr>
              <a:t>Max Parallel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141732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</a:rPr>
              <a:t>25.31 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487168"/>
            <a:ext cx="109728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423160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Analytical closed-form QP:  </a:t>
            </a:r>
            <a:r>
              <a:rPr sz="1300">
                <a:solidFill>
                  <a:srgbClr val="262626"/>
                </a:solidFill>
              </a:rPr>
              <a:t>Most intersection sub-problems solved in O(N) without a numerical solver; only ~5% of calls need SLSQP fallback.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291839"/>
            <a:ext cx="109728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227832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Parallel speedup pattern:  </a:t>
            </a:r>
            <a:r>
              <a:rPr sz="1300">
                <a:solidFill>
                  <a:srgbClr val="262626"/>
                </a:solidFill>
              </a:rPr>
              <a:t>Small N (10): near 1x (IPC overhead dominates).  Medium-large N (13-15): consistent 1.3-1.8x speedup.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096512"/>
            <a:ext cx="109728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032504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Python vs MATLAB parallel:  </a:t>
            </a:r>
            <a:r>
              <a:rPr sz="1300">
                <a:solidFill>
                  <a:srgbClr val="262626"/>
                </a:solidFill>
              </a:rPr>
              <a:t>Python avg ~2x faster than MATLAB parallel (6 s): closed-form QP eliminates most quadprog calls entirely.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901184"/>
            <a:ext cx="109728" cy="1097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837176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000"/>
                </a:solidFill>
              </a:rPr>
              <a:t>Online MPC verdict:  </a:t>
            </a:r>
            <a:r>
              <a:rPr sz="1300">
                <a:solidFill>
                  <a:srgbClr val="262626"/>
                </a:solidFill>
              </a:rPr>
              <a:t>Recommend dt &gt;= 25.3 s for safe MPC margin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